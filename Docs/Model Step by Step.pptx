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72" r:id="rId5"/>
    <p:sldId id="273" r:id="rId6"/>
    <p:sldId id="290" r:id="rId7"/>
    <p:sldId id="268" r:id="rId8"/>
    <p:sldId id="291" r:id="rId9"/>
    <p:sldId id="283" r:id="rId10"/>
    <p:sldId id="294" r:id="rId11"/>
    <p:sldId id="287" r:id="rId12"/>
    <p:sldId id="293" r:id="rId13"/>
    <p:sldId id="289" r:id="rId14"/>
    <p:sldId id="292" r:id="rId15"/>
    <p:sldId id="284" r:id="rId16"/>
    <p:sldId id="281" r:id="rId17"/>
    <p:sldId id="28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09D79"/>
    <a:srgbClr val="D1D8B7"/>
    <a:srgbClr val="AD5C4D"/>
    <a:srgbClr val="543E35"/>
    <a:srgbClr val="637700"/>
    <a:srgbClr val="FFF4ED"/>
    <a:srgbClr val="5E6A76"/>
    <a:srgbClr val="000000"/>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D64D9E-0C0A-403A-BAD9-35AEAEA1EF67}" v="12" dt="2026-07-09T18:47:43.772"/>
  </p1510:revLst>
</p1510:revInfo>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0"/>
  </p:normalViewPr>
  <p:slideViewPr>
    <p:cSldViewPr snapToGrid="0">
      <p:cViewPr>
        <p:scale>
          <a:sx n="190" d="100"/>
          <a:sy n="190" d="100"/>
        </p:scale>
        <p:origin x="-1788" y="-4386"/>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sorterViewPr>
    <p:cViewPr>
      <p:scale>
        <a:sx n="100" d="100"/>
        <a:sy n="100" d="100"/>
      </p:scale>
      <p:origin x="0" y="-4635"/>
    </p:cViewPr>
  </p:sorterViewPr>
  <p:notesViewPr>
    <p:cSldViewPr snapToGrid="0">
      <p:cViewPr varScale="1">
        <p:scale>
          <a:sx n="53" d="100"/>
          <a:sy n="53" d="100"/>
        </p:scale>
        <p:origin x="2650" y="4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iff Gold" userId="7cd0e7a053322a97" providerId="LiveId" clId="{7D1AF27A-48A7-4E67-A71A-7D931D03B20A}"/>
    <pc:docChg chg="undo custSel modSld">
      <pc:chgData name="Cliff Gold" userId="7cd0e7a053322a97" providerId="LiveId" clId="{7D1AF27A-48A7-4E67-A71A-7D931D03B20A}" dt="2026-07-09T18:53:22.037" v="659" actId="207"/>
      <pc:docMkLst>
        <pc:docMk/>
      </pc:docMkLst>
      <pc:sldChg chg="addSp modSp mod">
        <pc:chgData name="Cliff Gold" userId="7cd0e7a053322a97" providerId="LiveId" clId="{7D1AF27A-48A7-4E67-A71A-7D931D03B20A}" dt="2026-07-09T18:53:22.037" v="659" actId="207"/>
        <pc:sldMkLst>
          <pc:docMk/>
          <pc:sldMk cId="1113193004" sldId="294"/>
        </pc:sldMkLst>
        <pc:spChg chg="mod">
          <ac:chgData name="Cliff Gold" userId="7cd0e7a053322a97" providerId="LiveId" clId="{7D1AF27A-48A7-4E67-A71A-7D931D03B20A}" dt="2026-07-09T18:33:06.586" v="251" actId="206"/>
          <ac:spMkLst>
            <pc:docMk/>
            <pc:sldMk cId="1113193004" sldId="294"/>
            <ac:spMk id="2" creationId="{1518E85A-5850-1B56-A067-B4130844EED4}"/>
          </ac:spMkLst>
        </pc:spChg>
        <pc:spChg chg="add mod">
          <ac:chgData name="Cliff Gold" userId="7cd0e7a053322a97" providerId="LiveId" clId="{7D1AF27A-48A7-4E67-A71A-7D931D03B20A}" dt="2026-07-09T18:19:15.501" v="99" actId="20577"/>
          <ac:spMkLst>
            <pc:docMk/>
            <pc:sldMk cId="1113193004" sldId="294"/>
            <ac:spMk id="6" creationId="{3FD53B1C-47AE-4B4A-634D-27621971A9D0}"/>
          </ac:spMkLst>
        </pc:spChg>
        <pc:spChg chg="add mod">
          <ac:chgData name="Cliff Gold" userId="7cd0e7a053322a97" providerId="LiveId" clId="{7D1AF27A-48A7-4E67-A71A-7D931D03B20A}" dt="2026-07-09T18:33:12.930" v="255" actId="1037"/>
          <ac:spMkLst>
            <pc:docMk/>
            <pc:sldMk cId="1113193004" sldId="294"/>
            <ac:spMk id="8" creationId="{C4E716DC-9B7A-F6BA-655A-92A6771CE02E}"/>
          </ac:spMkLst>
        </pc:spChg>
        <pc:spChg chg="add mod">
          <ac:chgData name="Cliff Gold" userId="7cd0e7a053322a97" providerId="LiveId" clId="{7D1AF27A-48A7-4E67-A71A-7D931D03B20A}" dt="2026-07-09T18:04:52.946" v="48" actId="20577"/>
          <ac:spMkLst>
            <pc:docMk/>
            <pc:sldMk cId="1113193004" sldId="294"/>
            <ac:spMk id="15" creationId="{12599784-1F0A-0847-10F0-04BF8F1C39E9}"/>
          </ac:spMkLst>
        </pc:spChg>
        <pc:spChg chg="add mod">
          <ac:chgData name="Cliff Gold" userId="7cd0e7a053322a97" providerId="LiveId" clId="{7D1AF27A-48A7-4E67-A71A-7D931D03B20A}" dt="2026-07-09T18:08:58.911" v="62" actId="1076"/>
          <ac:spMkLst>
            <pc:docMk/>
            <pc:sldMk cId="1113193004" sldId="294"/>
            <ac:spMk id="16" creationId="{EA303E11-05A4-BF98-893D-0771853CDFE4}"/>
          </ac:spMkLst>
        </pc:spChg>
        <pc:spChg chg="mod">
          <ac:chgData name="Cliff Gold" userId="7cd0e7a053322a97" providerId="LiveId" clId="{7D1AF27A-48A7-4E67-A71A-7D931D03B20A}" dt="2026-07-09T18:27:49.208" v="163" actId="113"/>
          <ac:spMkLst>
            <pc:docMk/>
            <pc:sldMk cId="1113193004" sldId="294"/>
            <ac:spMk id="18" creationId="{E2112E65-2411-06F8-47B2-AB8E8648D23B}"/>
          </ac:spMkLst>
        </pc:spChg>
        <pc:spChg chg="mod">
          <ac:chgData name="Cliff Gold" userId="7cd0e7a053322a97" providerId="LiveId" clId="{7D1AF27A-48A7-4E67-A71A-7D931D03B20A}" dt="2026-07-09T18:18:14.085" v="89" actId="6549"/>
          <ac:spMkLst>
            <pc:docMk/>
            <pc:sldMk cId="1113193004" sldId="294"/>
            <ac:spMk id="35" creationId="{2E78177A-A3B8-FB94-D4E5-2F4C637A1A45}"/>
          </ac:spMkLst>
        </pc:spChg>
        <pc:spChg chg="mod">
          <ac:chgData name="Cliff Gold" userId="7cd0e7a053322a97" providerId="LiveId" clId="{7D1AF27A-48A7-4E67-A71A-7D931D03B20A}" dt="2026-07-09T18:18:27.991" v="92" actId="6549"/>
          <ac:spMkLst>
            <pc:docMk/>
            <pc:sldMk cId="1113193004" sldId="294"/>
            <ac:spMk id="36" creationId="{AFDCC8DE-36A8-A926-96B7-55A48A6681F8}"/>
          </ac:spMkLst>
        </pc:spChg>
        <pc:spChg chg="mod">
          <ac:chgData name="Cliff Gold" userId="7cd0e7a053322a97" providerId="LiveId" clId="{7D1AF27A-48A7-4E67-A71A-7D931D03B20A}" dt="2026-07-09T18:18:36.309" v="93" actId="6549"/>
          <ac:spMkLst>
            <pc:docMk/>
            <pc:sldMk cId="1113193004" sldId="294"/>
            <ac:spMk id="37" creationId="{7735E49C-059C-35E4-289E-5DFA4BFE27F1}"/>
          </ac:spMkLst>
        </pc:spChg>
        <pc:spChg chg="mod">
          <ac:chgData name="Cliff Gold" userId="7cd0e7a053322a97" providerId="LiveId" clId="{7D1AF27A-48A7-4E67-A71A-7D931D03B20A}" dt="2026-07-09T18:18:54.468" v="96" actId="20577"/>
          <ac:spMkLst>
            <pc:docMk/>
            <pc:sldMk cId="1113193004" sldId="294"/>
            <ac:spMk id="38" creationId="{42E628E6-3EE2-7466-5167-0621ECB0C30C}"/>
          </ac:spMkLst>
        </pc:spChg>
        <pc:spChg chg="mod">
          <ac:chgData name="Cliff Gold" userId="7cd0e7a053322a97" providerId="LiveId" clId="{7D1AF27A-48A7-4E67-A71A-7D931D03B20A}" dt="2026-07-09T18:33:57.522" v="273" actId="1076"/>
          <ac:spMkLst>
            <pc:docMk/>
            <pc:sldMk cId="1113193004" sldId="294"/>
            <ac:spMk id="40" creationId="{67420A42-8FE7-89D5-4448-364936799395}"/>
          </ac:spMkLst>
        </pc:spChg>
        <pc:spChg chg="mod">
          <ac:chgData name="Cliff Gold" userId="7cd0e7a053322a97" providerId="LiveId" clId="{7D1AF27A-48A7-4E67-A71A-7D931D03B20A}" dt="2026-07-09T18:33:12.930" v="255" actId="1037"/>
          <ac:spMkLst>
            <pc:docMk/>
            <pc:sldMk cId="1113193004" sldId="294"/>
            <ac:spMk id="41" creationId="{AEEF9BB4-2333-7CB0-C505-9CBB18E65348}"/>
          </ac:spMkLst>
        </pc:spChg>
        <pc:spChg chg="mod">
          <ac:chgData name="Cliff Gold" userId="7cd0e7a053322a97" providerId="LiveId" clId="{7D1AF27A-48A7-4E67-A71A-7D931D03B20A}" dt="2026-07-09T18:35:33.904" v="274" actId="6549"/>
          <ac:spMkLst>
            <pc:docMk/>
            <pc:sldMk cId="1113193004" sldId="294"/>
            <ac:spMk id="42" creationId="{67ACD9A5-1228-BAF7-6A69-138571B86BCF}"/>
          </ac:spMkLst>
        </pc:spChg>
        <pc:spChg chg="mod">
          <ac:chgData name="Cliff Gold" userId="7cd0e7a053322a97" providerId="LiveId" clId="{7D1AF27A-48A7-4E67-A71A-7D931D03B20A}" dt="2026-07-09T18:36:54.206" v="331" actId="1037"/>
          <ac:spMkLst>
            <pc:docMk/>
            <pc:sldMk cId="1113193004" sldId="294"/>
            <ac:spMk id="43" creationId="{C0B6C1AA-532F-0F77-AF43-7DD748688DA2}"/>
          </ac:spMkLst>
        </pc:spChg>
        <pc:spChg chg="mod">
          <ac:chgData name="Cliff Gold" userId="7cd0e7a053322a97" providerId="LiveId" clId="{7D1AF27A-48A7-4E67-A71A-7D931D03B20A}" dt="2026-07-09T18:41:36.106" v="395" actId="1076"/>
          <ac:spMkLst>
            <pc:docMk/>
            <pc:sldMk cId="1113193004" sldId="294"/>
            <ac:spMk id="44" creationId="{F78E9E46-139A-7109-69C2-557BE9A95476}"/>
          </ac:spMkLst>
        </pc:spChg>
        <pc:spChg chg="mod">
          <ac:chgData name="Cliff Gold" userId="7cd0e7a053322a97" providerId="LiveId" clId="{7D1AF27A-48A7-4E67-A71A-7D931D03B20A}" dt="2026-07-09T18:33:12.930" v="255" actId="1037"/>
          <ac:spMkLst>
            <pc:docMk/>
            <pc:sldMk cId="1113193004" sldId="294"/>
            <ac:spMk id="45" creationId="{30BB9957-01F2-2C02-1E57-0A47EE9F8CDB}"/>
          </ac:spMkLst>
        </pc:spChg>
        <pc:spChg chg="mod">
          <ac:chgData name="Cliff Gold" userId="7cd0e7a053322a97" providerId="LiveId" clId="{7D1AF27A-48A7-4E67-A71A-7D931D03B20A}" dt="2026-07-09T18:33:12.930" v="255" actId="1037"/>
          <ac:spMkLst>
            <pc:docMk/>
            <pc:sldMk cId="1113193004" sldId="294"/>
            <ac:spMk id="46" creationId="{13A31ACF-78F6-BA91-730D-AD237A57F52E}"/>
          </ac:spMkLst>
        </pc:spChg>
        <pc:spChg chg="mod">
          <ac:chgData name="Cliff Gold" userId="7cd0e7a053322a97" providerId="LiveId" clId="{7D1AF27A-48A7-4E67-A71A-7D931D03B20A}" dt="2026-07-09T18:33:12.930" v="255" actId="1037"/>
          <ac:spMkLst>
            <pc:docMk/>
            <pc:sldMk cId="1113193004" sldId="294"/>
            <ac:spMk id="47" creationId="{0F63557A-DF5A-F850-AA85-D8A00D942E8B}"/>
          </ac:spMkLst>
        </pc:spChg>
        <pc:spChg chg="mod">
          <ac:chgData name="Cliff Gold" userId="7cd0e7a053322a97" providerId="LiveId" clId="{7D1AF27A-48A7-4E67-A71A-7D931D03B20A}" dt="2026-07-09T18:53:22.037" v="659" actId="207"/>
          <ac:spMkLst>
            <pc:docMk/>
            <pc:sldMk cId="1113193004" sldId="294"/>
            <ac:spMk id="48" creationId="{C63D3AEB-0094-0871-1077-8524E181DDF4}"/>
          </ac:spMkLst>
        </pc:spChg>
        <pc:spChg chg="mod">
          <ac:chgData name="Cliff Gold" userId="7cd0e7a053322a97" providerId="LiveId" clId="{7D1AF27A-48A7-4E67-A71A-7D931D03B20A}" dt="2026-07-09T18:33:39.368" v="272" actId="20577"/>
          <ac:spMkLst>
            <pc:docMk/>
            <pc:sldMk cId="1113193004" sldId="294"/>
            <ac:spMk id="49" creationId="{8ECAD673-66B1-0EDC-FB66-84C4080D57DF}"/>
          </ac:spMkLst>
        </pc:spChg>
        <pc:spChg chg="mod">
          <ac:chgData name="Cliff Gold" userId="7cd0e7a053322a97" providerId="LiveId" clId="{7D1AF27A-48A7-4E67-A71A-7D931D03B20A}" dt="2026-07-09T18:44:28.142" v="566" actId="1076"/>
          <ac:spMkLst>
            <pc:docMk/>
            <pc:sldMk cId="1113193004" sldId="294"/>
            <ac:spMk id="54" creationId="{4B7A15DF-46F9-7E85-CB32-1371C3EA3193}"/>
          </ac:spMkLst>
        </pc:spChg>
        <pc:spChg chg="mod">
          <ac:chgData name="Cliff Gold" userId="7cd0e7a053322a97" providerId="LiveId" clId="{7D1AF27A-48A7-4E67-A71A-7D931D03B20A}" dt="2026-07-09T18:43:30.433" v="556" actId="1036"/>
          <ac:spMkLst>
            <pc:docMk/>
            <pc:sldMk cId="1113193004" sldId="294"/>
            <ac:spMk id="55" creationId="{F11768B7-2EAA-F702-2C1C-3EADEE4C3FC3}"/>
          </ac:spMkLst>
        </pc:spChg>
        <pc:spChg chg="mod">
          <ac:chgData name="Cliff Gold" userId="7cd0e7a053322a97" providerId="LiveId" clId="{7D1AF27A-48A7-4E67-A71A-7D931D03B20A}" dt="2026-07-09T18:50:04.953" v="655" actId="20577"/>
          <ac:spMkLst>
            <pc:docMk/>
            <pc:sldMk cId="1113193004" sldId="294"/>
            <ac:spMk id="59" creationId="{0A508C89-2E00-5655-C494-D651E25F46A3}"/>
          </ac:spMkLst>
        </pc:spChg>
        <pc:spChg chg="mod">
          <ac:chgData name="Cliff Gold" userId="7cd0e7a053322a97" providerId="LiveId" clId="{7D1AF27A-48A7-4E67-A71A-7D931D03B20A}" dt="2026-07-09T18:08:50.860" v="61" actId="1076"/>
          <ac:spMkLst>
            <pc:docMk/>
            <pc:sldMk cId="1113193004" sldId="294"/>
            <ac:spMk id="60" creationId="{66092B75-DDBA-2F4C-7996-81151E61A827}"/>
          </ac:spMkLst>
        </pc:spChg>
        <pc:spChg chg="mod">
          <ac:chgData name="Cliff Gold" userId="7cd0e7a053322a97" providerId="LiveId" clId="{7D1AF27A-48A7-4E67-A71A-7D931D03B20A}" dt="2026-07-09T18:25:13.199" v="131" actId="14100"/>
          <ac:spMkLst>
            <pc:docMk/>
            <pc:sldMk cId="1113193004" sldId="294"/>
            <ac:spMk id="61" creationId="{92CB717F-7160-05D1-0A44-3B7B2A040B9B}"/>
          </ac:spMkLst>
        </pc:spChg>
        <pc:spChg chg="add mod">
          <ac:chgData name="Cliff Gold" userId="7cd0e7a053322a97" providerId="LiveId" clId="{7D1AF27A-48A7-4E67-A71A-7D931D03B20A}" dt="2026-07-09T18:42:22.519" v="408" actId="20577"/>
          <ac:spMkLst>
            <pc:docMk/>
            <pc:sldMk cId="1113193004" sldId="294"/>
            <ac:spMk id="71" creationId="{85F5357E-46B0-E44A-2A8A-D911B857B965}"/>
          </ac:spMkLst>
        </pc:spChg>
        <pc:spChg chg="add mod">
          <ac:chgData name="Cliff Gold" userId="7cd0e7a053322a97" providerId="LiveId" clId="{7D1AF27A-48A7-4E67-A71A-7D931D03B20A}" dt="2026-07-09T18:51:45.148" v="658" actId="207"/>
          <ac:spMkLst>
            <pc:docMk/>
            <pc:sldMk cId="1113193004" sldId="294"/>
            <ac:spMk id="74" creationId="{B93B79AF-FB89-7C2F-F1FB-BFD7674AF78A}"/>
          </ac:spMkLst>
        </pc:spChg>
        <pc:cxnChg chg="mod ord">
          <ac:chgData name="Cliff Gold" userId="7cd0e7a053322a97" providerId="LiveId" clId="{7D1AF27A-48A7-4E67-A71A-7D931D03B20A}" dt="2026-07-09T18:33:12.930" v="255" actId="1037"/>
          <ac:cxnSpMkLst>
            <pc:docMk/>
            <pc:sldMk cId="1113193004" sldId="294"/>
            <ac:cxnSpMk id="9" creationId="{5B529772-C25A-E174-E998-431921A9DDCA}"/>
          </ac:cxnSpMkLst>
        </pc:cxnChg>
        <pc:cxnChg chg="mod ord">
          <ac:chgData name="Cliff Gold" userId="7cd0e7a053322a97" providerId="LiveId" clId="{7D1AF27A-48A7-4E67-A71A-7D931D03B20A}" dt="2026-07-09T18:33:12.930" v="255" actId="1037"/>
          <ac:cxnSpMkLst>
            <pc:docMk/>
            <pc:sldMk cId="1113193004" sldId="294"/>
            <ac:cxnSpMk id="11" creationId="{CD284ECA-3613-8367-6F99-B03BF2128925}"/>
          </ac:cxnSpMkLst>
        </pc:cxnChg>
        <pc:cxnChg chg="mod ord">
          <ac:chgData name="Cliff Gold" userId="7cd0e7a053322a97" providerId="LiveId" clId="{7D1AF27A-48A7-4E67-A71A-7D931D03B20A}" dt="2026-07-09T18:33:12.930" v="255" actId="1037"/>
          <ac:cxnSpMkLst>
            <pc:docMk/>
            <pc:sldMk cId="1113193004" sldId="294"/>
            <ac:cxnSpMk id="12" creationId="{1594D1A6-1A1F-D15B-CE44-0C0E7F0FC2B6}"/>
          </ac:cxnSpMkLst>
        </pc:cxnChg>
        <pc:cxnChg chg="mod ord">
          <ac:chgData name="Cliff Gold" userId="7cd0e7a053322a97" providerId="LiveId" clId="{7D1AF27A-48A7-4E67-A71A-7D931D03B20A}" dt="2026-07-09T18:33:12.930" v="255" actId="1037"/>
          <ac:cxnSpMkLst>
            <pc:docMk/>
            <pc:sldMk cId="1113193004" sldId="294"/>
            <ac:cxnSpMk id="13" creationId="{E564E15A-180A-CCCA-79FA-9E1515559E78}"/>
          </ac:cxnSpMkLst>
        </pc:cxnChg>
        <pc:cxnChg chg="mod">
          <ac:chgData name="Cliff Gold" userId="7cd0e7a053322a97" providerId="LiveId" clId="{7D1AF27A-48A7-4E67-A71A-7D931D03B20A}" dt="2026-07-09T18:06:51.652" v="50" actId="1076"/>
          <ac:cxnSpMkLst>
            <pc:docMk/>
            <pc:sldMk cId="1113193004" sldId="294"/>
            <ac:cxnSpMk id="14" creationId="{641E1553-ED13-13FD-35BF-1A61C1924B23}"/>
          </ac:cxnSpMkLst>
        </pc:cxnChg>
        <pc:cxnChg chg="mod">
          <ac:chgData name="Cliff Gold" userId="7cd0e7a053322a97" providerId="LiveId" clId="{7D1AF27A-48A7-4E67-A71A-7D931D03B20A}" dt="2026-07-09T18:06:51.652" v="50" actId="1076"/>
          <ac:cxnSpMkLst>
            <pc:docMk/>
            <pc:sldMk cId="1113193004" sldId="294"/>
            <ac:cxnSpMk id="17" creationId="{27FF4B7A-52CE-9B66-066C-6EB90058E719}"/>
          </ac:cxnSpMkLst>
        </pc:cxnChg>
        <pc:cxnChg chg="mod">
          <ac:chgData name="Cliff Gold" userId="7cd0e7a053322a97" providerId="LiveId" clId="{7D1AF27A-48A7-4E67-A71A-7D931D03B20A}" dt="2026-07-09T18:06:51.652" v="50" actId="1076"/>
          <ac:cxnSpMkLst>
            <pc:docMk/>
            <pc:sldMk cId="1113193004" sldId="294"/>
            <ac:cxnSpMk id="19" creationId="{1A5789C8-9016-7C15-37F3-588B20527B13}"/>
          </ac:cxnSpMkLst>
        </pc:cxnChg>
        <pc:cxnChg chg="mod">
          <ac:chgData name="Cliff Gold" userId="7cd0e7a053322a97" providerId="LiveId" clId="{7D1AF27A-48A7-4E67-A71A-7D931D03B20A}" dt="2026-07-09T18:06:51.652" v="50" actId="1076"/>
          <ac:cxnSpMkLst>
            <pc:docMk/>
            <pc:sldMk cId="1113193004" sldId="294"/>
            <ac:cxnSpMk id="20" creationId="{3FB541A2-C00B-16FA-C4A0-17409B6BF9BC}"/>
          </ac:cxnSpMkLst>
        </pc:cxnChg>
        <pc:cxnChg chg="add mod ord">
          <ac:chgData name="Cliff Gold" userId="7cd0e7a053322a97" providerId="LiveId" clId="{7D1AF27A-48A7-4E67-A71A-7D931D03B20A}" dt="2026-07-09T18:33:12.930" v="255" actId="1037"/>
          <ac:cxnSpMkLst>
            <pc:docMk/>
            <pc:sldMk cId="1113193004" sldId="294"/>
            <ac:cxnSpMk id="21" creationId="{2DFC90D9-4A99-CE41-52F5-29AE77EF68FF}"/>
          </ac:cxnSpMkLst>
        </pc:cxnChg>
        <pc:cxnChg chg="add mod">
          <ac:chgData name="Cliff Gold" userId="7cd0e7a053322a97" providerId="LiveId" clId="{7D1AF27A-48A7-4E67-A71A-7D931D03B20A}" dt="2026-07-09T18:06:51.652" v="50" actId="1076"/>
          <ac:cxnSpMkLst>
            <pc:docMk/>
            <pc:sldMk cId="1113193004" sldId="294"/>
            <ac:cxnSpMk id="22" creationId="{DB61A72B-26CF-D0C3-2028-9442EB132534}"/>
          </ac:cxnSpMkLst>
        </pc:cxnChg>
        <pc:cxnChg chg="add mod ord">
          <ac:chgData name="Cliff Gold" userId="7cd0e7a053322a97" providerId="LiveId" clId="{7D1AF27A-48A7-4E67-A71A-7D931D03B20A}" dt="2026-07-09T18:07:43.687" v="55" actId="167"/>
          <ac:cxnSpMkLst>
            <pc:docMk/>
            <pc:sldMk cId="1113193004" sldId="294"/>
            <ac:cxnSpMk id="23" creationId="{D8EF8D9B-4769-6FF0-C9E4-8E44AD269A30}"/>
          </ac:cxnSpMkLst>
        </pc:cxnChg>
        <pc:cxnChg chg="add mod ord">
          <ac:chgData name="Cliff Gold" userId="7cd0e7a053322a97" providerId="LiveId" clId="{7D1AF27A-48A7-4E67-A71A-7D931D03B20A}" dt="2026-07-09T18:07:52.862" v="56"/>
          <ac:cxnSpMkLst>
            <pc:docMk/>
            <pc:sldMk cId="1113193004" sldId="294"/>
            <ac:cxnSpMk id="24" creationId="{FF11563E-9329-851B-CDF2-06017DBB34CC}"/>
          </ac:cxnSpMkLst>
        </pc:cxnChg>
        <pc:cxnChg chg="add mod ord">
          <ac:chgData name="Cliff Gold" userId="7cd0e7a053322a97" providerId="LiveId" clId="{7D1AF27A-48A7-4E67-A71A-7D931D03B20A}" dt="2026-07-09T18:07:59.335" v="57"/>
          <ac:cxnSpMkLst>
            <pc:docMk/>
            <pc:sldMk cId="1113193004" sldId="294"/>
            <ac:cxnSpMk id="25" creationId="{6B4B0AD8-ED3B-802A-CF47-235E8554BD92}"/>
          </ac:cxnSpMkLst>
        </pc:cxnChg>
        <pc:cxnChg chg="add mod ord">
          <ac:chgData name="Cliff Gold" userId="7cd0e7a053322a97" providerId="LiveId" clId="{7D1AF27A-48A7-4E67-A71A-7D931D03B20A}" dt="2026-07-09T18:08:11.644" v="59"/>
          <ac:cxnSpMkLst>
            <pc:docMk/>
            <pc:sldMk cId="1113193004" sldId="294"/>
            <ac:cxnSpMk id="26" creationId="{B7CA8A4F-8D32-5CCD-D0F5-EC9E87010490}"/>
          </ac:cxnSpMkLst>
        </pc:cxnChg>
        <pc:cxnChg chg="add mod ord">
          <ac:chgData name="Cliff Gold" userId="7cd0e7a053322a97" providerId="LiveId" clId="{7D1AF27A-48A7-4E67-A71A-7D931D03B20A}" dt="2026-07-09T18:08:15.727" v="60"/>
          <ac:cxnSpMkLst>
            <pc:docMk/>
            <pc:sldMk cId="1113193004" sldId="294"/>
            <ac:cxnSpMk id="27" creationId="{B5453B39-4F7B-18BA-D6E7-C099A72CEDB6}"/>
          </ac:cxnSpMkLst>
        </pc:cxnChg>
        <pc:cxnChg chg="add mod ord">
          <ac:chgData name="Cliff Gold" userId="7cd0e7a053322a97" providerId="LiveId" clId="{7D1AF27A-48A7-4E67-A71A-7D931D03B20A}" dt="2026-07-09T18:09:44.064" v="65" actId="167"/>
          <ac:cxnSpMkLst>
            <pc:docMk/>
            <pc:sldMk cId="1113193004" sldId="294"/>
            <ac:cxnSpMk id="33" creationId="{01A1DB4D-53D2-161D-B35C-2436B3B1FE05}"/>
          </ac:cxnSpMkLst>
        </pc:cxnChg>
        <pc:cxnChg chg="add mod ord">
          <ac:chgData name="Cliff Gold" userId="7cd0e7a053322a97" providerId="LiveId" clId="{7D1AF27A-48A7-4E67-A71A-7D931D03B20A}" dt="2026-07-09T18:09:44.064" v="65" actId="167"/>
          <ac:cxnSpMkLst>
            <pc:docMk/>
            <pc:sldMk cId="1113193004" sldId="294"/>
            <ac:cxnSpMk id="34" creationId="{39E29414-8710-8CED-B085-45F4BE5124DA}"/>
          </ac:cxnSpMkLst>
        </pc:cxnChg>
        <pc:cxnChg chg="add mod ord">
          <ac:chgData name="Cliff Gold" userId="7cd0e7a053322a97" providerId="LiveId" clId="{7D1AF27A-48A7-4E67-A71A-7D931D03B20A}" dt="2026-07-09T18:09:44.064" v="65" actId="167"/>
          <ac:cxnSpMkLst>
            <pc:docMk/>
            <pc:sldMk cId="1113193004" sldId="294"/>
            <ac:cxnSpMk id="39" creationId="{B266A9D0-9B8F-6BAB-9FF4-584543CD88F8}"/>
          </ac:cxnSpMkLst>
        </pc:cxnChg>
        <pc:cxnChg chg="add mod ord">
          <ac:chgData name="Cliff Gold" userId="7cd0e7a053322a97" providerId="LiveId" clId="{7D1AF27A-48A7-4E67-A71A-7D931D03B20A}" dt="2026-07-09T18:09:44.064" v="65" actId="167"/>
          <ac:cxnSpMkLst>
            <pc:docMk/>
            <pc:sldMk cId="1113193004" sldId="294"/>
            <ac:cxnSpMk id="63" creationId="{B65348A4-FB77-840A-E181-8DCBE6CBB4FA}"/>
          </ac:cxnSpMkLst>
        </pc:cxnChg>
        <pc:cxnChg chg="add mod ord">
          <ac:chgData name="Cliff Gold" userId="7cd0e7a053322a97" providerId="LiveId" clId="{7D1AF27A-48A7-4E67-A71A-7D931D03B20A}" dt="2026-07-09T18:09:44.064" v="65" actId="167"/>
          <ac:cxnSpMkLst>
            <pc:docMk/>
            <pc:sldMk cId="1113193004" sldId="294"/>
            <ac:cxnSpMk id="64" creationId="{5B14ED6C-C76A-737A-0684-8124420D091F}"/>
          </ac:cxnSpMkLst>
        </pc:cxnChg>
        <pc:cxnChg chg="add mod ord">
          <ac:chgData name="Cliff Gold" userId="7cd0e7a053322a97" providerId="LiveId" clId="{7D1AF27A-48A7-4E67-A71A-7D931D03B20A}" dt="2026-07-09T18:49:58.946" v="654" actId="1035"/>
          <ac:cxnSpMkLst>
            <pc:docMk/>
            <pc:sldMk cId="1113193004" sldId="294"/>
            <ac:cxnSpMk id="65" creationId="{D862FA41-C960-13B1-60D8-35BD6D1103CB}"/>
          </ac:cxnSpMkLst>
        </pc:cxnChg>
        <pc:cxnChg chg="add mod">
          <ac:chgData name="Cliff Gold" userId="7cd0e7a053322a97" providerId="LiveId" clId="{7D1AF27A-48A7-4E67-A71A-7D931D03B20A}" dt="2026-07-09T18:48:57.275" v="615" actId="1076"/>
          <ac:cxnSpMkLst>
            <pc:docMk/>
            <pc:sldMk cId="1113193004" sldId="294"/>
            <ac:cxnSpMk id="66" creationId="{3128FDE3-497E-DD31-AB26-AE977240218F}"/>
          </ac:cxnSpMkLst>
        </pc:cxnChg>
        <pc:cxnChg chg="add mod ord">
          <ac:chgData name="Cliff Gold" userId="7cd0e7a053322a97" providerId="LiveId" clId="{7D1AF27A-48A7-4E67-A71A-7D931D03B20A}" dt="2026-07-09T18:40:18.642" v="350" actId="14100"/>
          <ac:cxnSpMkLst>
            <pc:docMk/>
            <pc:sldMk cId="1113193004" sldId="294"/>
            <ac:cxnSpMk id="67" creationId="{568586D6-AE38-9B3B-D143-55E8982D92BA}"/>
          </ac:cxnSpMkLst>
        </pc:cxnChg>
        <pc:cxnChg chg="add mod">
          <ac:chgData name="Cliff Gold" userId="7cd0e7a053322a97" providerId="LiveId" clId="{7D1AF27A-48A7-4E67-A71A-7D931D03B20A}" dt="2026-07-09T18:43:00.987" v="409" actId="14100"/>
          <ac:cxnSpMkLst>
            <pc:docMk/>
            <pc:sldMk cId="1113193004" sldId="294"/>
            <ac:cxnSpMk id="68" creationId="{F1D39B31-A9F2-5AA9-A20E-2CE724182586}"/>
          </ac:cxnSpMkLst>
        </pc:cxnChg>
        <pc:cxnChg chg="add mod ord">
          <ac:chgData name="Cliff Gold" userId="7cd0e7a053322a97" providerId="LiveId" clId="{7D1AF27A-48A7-4E67-A71A-7D931D03B20A}" dt="2026-07-09T18:48:44.402" v="614" actId="167"/>
          <ac:cxnSpMkLst>
            <pc:docMk/>
            <pc:sldMk cId="1113193004" sldId="294"/>
            <ac:cxnSpMk id="75" creationId="{A5C68EF6-D933-3E41-6618-B321479A2803}"/>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7/9/2026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7/9/2026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2</a:t>
            </a:fld>
            <a:endParaRPr lang="en-US" dirty="0"/>
          </a:p>
        </p:txBody>
      </p:sp>
    </p:spTree>
    <p:extLst>
      <p:ext uri="{BB962C8B-B14F-4D97-AF65-F5344CB8AC3E}">
        <p14:creationId xmlns:p14="http://schemas.microsoft.com/office/powerpoint/2010/main" val="2915729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4</a:t>
            </a:fld>
            <a:endParaRPr lang="en-US" dirty="0"/>
          </a:p>
        </p:txBody>
      </p:sp>
    </p:spTree>
    <p:extLst>
      <p:ext uri="{BB962C8B-B14F-4D97-AF65-F5344CB8AC3E}">
        <p14:creationId xmlns:p14="http://schemas.microsoft.com/office/powerpoint/2010/main" val="3150707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6</a:t>
            </a:fld>
            <a:endParaRPr lang="en-US" dirty="0"/>
          </a:p>
        </p:txBody>
      </p:sp>
    </p:spTree>
    <p:extLst>
      <p:ext uri="{BB962C8B-B14F-4D97-AF65-F5344CB8AC3E}">
        <p14:creationId xmlns:p14="http://schemas.microsoft.com/office/powerpoint/2010/main" val="3723573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8</a:t>
            </a:fld>
            <a:endParaRPr lang="en-US" dirty="0"/>
          </a:p>
        </p:txBody>
      </p:sp>
    </p:spTree>
    <p:extLst>
      <p:ext uri="{BB962C8B-B14F-4D97-AF65-F5344CB8AC3E}">
        <p14:creationId xmlns:p14="http://schemas.microsoft.com/office/powerpoint/2010/main" val="969043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10</a:t>
            </a:fld>
            <a:endParaRPr lang="en-US" dirty="0"/>
          </a:p>
        </p:txBody>
      </p:sp>
    </p:spTree>
    <p:extLst>
      <p:ext uri="{BB962C8B-B14F-4D97-AF65-F5344CB8AC3E}">
        <p14:creationId xmlns:p14="http://schemas.microsoft.com/office/powerpoint/2010/main" val="2651073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0FB71-8050-3FAF-5B23-4C548A771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1A739-A1A9-1658-1ECB-4F02779EA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D6830-149F-E0DC-8289-CCCBCEA3DB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AA52FE-830C-D4D8-7B3E-AFA5FAA64C48}"/>
              </a:ext>
            </a:extLst>
          </p:cNvPr>
          <p:cNvSpPr>
            <a:spLocks noGrp="1"/>
          </p:cNvSpPr>
          <p:nvPr>
            <p:ph type="sldNum" sz="quarter" idx="5"/>
          </p:nvPr>
        </p:nvSpPr>
        <p:spPr/>
        <p:txBody>
          <a:bodyPr/>
          <a:lstStyle/>
          <a:p>
            <a:fld id="{7C366290-4595-5745-A50F-D5EC13BAC604}" type="slidenum">
              <a:rPr lang="en-US" smtClean="0"/>
              <a:t>11</a:t>
            </a:fld>
            <a:endParaRPr lang="en-US" dirty="0"/>
          </a:p>
        </p:txBody>
      </p:sp>
    </p:spTree>
    <p:extLst>
      <p:ext uri="{BB962C8B-B14F-4D97-AF65-F5344CB8AC3E}">
        <p14:creationId xmlns:p14="http://schemas.microsoft.com/office/powerpoint/2010/main" val="535632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12</a:t>
            </a:fld>
            <a:endParaRPr lang="en-US" dirty="0"/>
          </a:p>
        </p:txBody>
      </p:sp>
    </p:spTree>
    <p:extLst>
      <p:ext uri="{BB962C8B-B14F-4D97-AF65-F5344CB8AC3E}">
        <p14:creationId xmlns:p14="http://schemas.microsoft.com/office/powerpoint/2010/main" val="973280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a:alphaModFix/>
            <a:extLst>
              <a:ext uri="{96DAC541-7B7A-43D3-8B79-37D633B846F1}">
                <asvg:svgBlip xmlns:asvg="http://schemas.microsoft.com/office/drawing/2016/SVG/main" r:embed="rId2"/>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Climate Change Model</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Computing Cancer Risk</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a:lstStyle/>
          <a:p>
            <a:br>
              <a:rPr lang="en-US" dirty="0"/>
            </a:br>
            <a:r>
              <a:rPr lang="en-US" dirty="0"/>
              <a:t>Climate Change</a:t>
            </a:r>
            <a:br>
              <a:rPr lang="en-US" dirty="0"/>
            </a:br>
            <a:r>
              <a:rPr lang="en-US" dirty="0"/>
              <a:t>Model </a:t>
            </a:r>
            <a:br>
              <a:rPr lang="en-US" dirty="0"/>
            </a:br>
            <a:r>
              <a:rPr lang="en-US" dirty="0"/>
              <a:t>Step-by-Step</a:t>
            </a: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p:txBody>
          <a:bodyPr/>
          <a:lstStyle/>
          <a:p>
            <a:r>
              <a:rPr lang="en-US" dirty="0"/>
              <a:t>Cliff Gold</a:t>
            </a: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p:txBody>
          <a:bodyPr/>
          <a:lstStyle/>
          <a:p>
            <a:r>
              <a:rPr lang="en-US" dirty="0"/>
              <a:t>Agenda</a:t>
            </a:r>
          </a:p>
        </p:txBody>
      </p:sp>
      <p:graphicFrame>
        <p:nvGraphicFramePr>
          <p:cNvPr id="2" name="Table 4">
            <a:extLst>
              <a:ext uri="{FF2B5EF4-FFF2-40B4-BE49-F238E27FC236}">
                <a16:creationId xmlns:a16="http://schemas.microsoft.com/office/drawing/2014/main" id="{14883AB6-E6D8-70A9-3CCB-61E120FC6000}"/>
              </a:ext>
            </a:extLst>
          </p:cNvPr>
          <p:cNvGraphicFramePr>
            <a:graphicFrameLocks noGrp="1"/>
          </p:cNvGraphicFramePr>
          <p:nvPr>
            <p:ph idx="1"/>
            <p:extLst>
              <p:ext uri="{D42A27DB-BD31-4B8C-83A1-F6EECF244321}">
                <p14:modId xmlns:p14="http://schemas.microsoft.com/office/powerpoint/2010/main" val="1870437974"/>
              </p:ext>
            </p:extLst>
          </p:nvPr>
        </p:nvGraphicFramePr>
        <p:xfrm>
          <a:off x="7863168" y="851648"/>
          <a:ext cx="4132263" cy="3826017"/>
        </p:xfrm>
        <a:graphic>
          <a:graphicData uri="http://schemas.openxmlformats.org/drawingml/2006/table">
            <a:tbl>
              <a:tblPr firstRow="1" bandRow="1"/>
              <a:tblGrid>
                <a:gridCol w="4132263">
                  <a:extLst>
                    <a:ext uri="{9D8B030D-6E8A-4147-A177-3AD203B41FA5}">
                      <a16:colId xmlns:a16="http://schemas.microsoft.com/office/drawing/2014/main" val="1563570424"/>
                    </a:ext>
                  </a:extLst>
                </a:gridCol>
              </a:tblGrid>
              <a:tr h="57143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2400" dirty="0">
                        <a:latin typeface="+mn-lt"/>
                        <a:cs typeface="Gill Sans Light" panose="020B0302020104020203" pitchFamily="34" charset="-79"/>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latin typeface="+mn-lt"/>
                          <a:cs typeface="Gill Sans Light" panose="020B0302020104020203" pitchFamily="34" charset="-79"/>
                        </a:rPr>
                        <a:t>Introduction</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79725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u="none" dirty="0">
                          <a:latin typeface="+mn-lt"/>
                          <a:cs typeface="Gill Sans Light" panose="020B0302020104020203" pitchFamily="34" charset="-79"/>
                        </a:rPr>
                        <a:t>The Data</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81352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latin typeface="+mn-lt"/>
                          <a:cs typeface="Gill Sans Light" panose="020B0302020104020203" pitchFamily="34" charset="-79"/>
                        </a:rPr>
                        <a:t>The Knobs</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69613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latin typeface="+mn-lt"/>
                          <a:cs typeface="Gill Sans Light" panose="020B0302020104020203" pitchFamily="34" charset="-79"/>
                        </a:rPr>
                        <a:t>Building the Model</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r h="69613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tx1"/>
                          </a:solidFill>
                          <a:latin typeface="+mn-lt"/>
                          <a:ea typeface="+mn-ea"/>
                          <a:cs typeface="Gill Sans Light" panose="020B0302020104020203" pitchFamily="34" charset="-79"/>
                        </a:rPr>
                        <a:t>Try It Out</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7598189"/>
                  </a:ext>
                </a:extLst>
              </a:tr>
            </a:tbl>
          </a:graphicData>
        </a:graphic>
      </p:graphicFrame>
    </p:spTree>
    <p:extLst>
      <p:ext uri="{BB962C8B-B14F-4D97-AF65-F5344CB8AC3E}">
        <p14:creationId xmlns:p14="http://schemas.microsoft.com/office/powerpoint/2010/main" val="347413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70BA96D9-2E56-3DBD-6315-048A1B2800FB}"/>
              </a:ext>
            </a:extLst>
          </p:cNvPr>
          <p:cNvSpPr>
            <a:spLocks noGrp="1"/>
          </p:cNvSpPr>
          <p:nvPr>
            <p:ph type="title"/>
          </p:nvPr>
        </p:nvSpPr>
        <p:spPr/>
        <p:txBody>
          <a:bodyPr/>
          <a:lstStyle/>
          <a:p>
            <a:r>
              <a:rPr lang="en-US" dirty="0"/>
              <a:t>Introduction</a:t>
            </a:r>
          </a:p>
        </p:txBody>
      </p:sp>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576072" y="1497654"/>
            <a:ext cx="4572000" cy="4070729"/>
          </a:xfrm>
        </p:spPr>
        <p:txBody>
          <a:bodyPr/>
          <a:lstStyle/>
          <a:p>
            <a:endParaRPr lang="en-US" dirty="0">
              <a:latin typeface="Gill Sans MT" panose="020B0502020104020203" pitchFamily="34" charset="0"/>
            </a:endParaRPr>
          </a:p>
          <a:p>
            <a:r>
              <a:rPr lang="en-US" dirty="0">
                <a:latin typeface="Gill Sans MT" panose="020B0502020104020203" pitchFamily="34" charset="0"/>
              </a:rPr>
              <a:t>I’m Cliff Gold, a retired chip designer.</a:t>
            </a:r>
          </a:p>
          <a:p>
            <a:endParaRPr lang="en-US" dirty="0">
              <a:latin typeface="Gill Sans MT" panose="020B0502020104020203" pitchFamily="34" charset="0"/>
            </a:endParaRPr>
          </a:p>
          <a:p>
            <a:r>
              <a:rPr lang="en-US" dirty="0">
                <a:latin typeface="Gill Sans MT" panose="020B0502020104020203" pitchFamily="34" charset="0"/>
              </a:rPr>
              <a:t>In chip design, a single mistake – a single gate in a design with billions of gates – can cost millions of dollars and months of delay.</a:t>
            </a:r>
          </a:p>
          <a:p>
            <a:endParaRPr lang="en-US" dirty="0">
              <a:latin typeface="Gill Sans MT" panose="020B0502020104020203" pitchFamily="34" charset="0"/>
            </a:endParaRPr>
          </a:p>
          <a:p>
            <a:r>
              <a:rPr lang="en-US" dirty="0">
                <a:latin typeface="Gill Sans MT" panose="020B0502020104020203" pitchFamily="34" charset="0"/>
              </a:rPr>
              <a:t>At a gigahertz, a mistake with a one in a billion chance happens once a second.</a:t>
            </a:r>
          </a:p>
          <a:p>
            <a:endParaRPr lang="en-US" dirty="0">
              <a:latin typeface="Gill Sans MT" panose="020B0502020104020203" pitchFamily="34" charset="0"/>
            </a:endParaRPr>
          </a:p>
          <a:p>
            <a:r>
              <a:rPr lang="en-US" dirty="0">
                <a:latin typeface="Gill Sans MT" panose="020B0502020104020203" pitchFamily="34" charset="0"/>
              </a:rPr>
              <a:t>I’ve learned to become appreciative of those finding bugs in my design.</a:t>
            </a:r>
          </a:p>
          <a:p>
            <a:endParaRPr lang="en-US" dirty="0">
              <a:latin typeface="Gill Sans MT" panose="020B0502020104020203" pitchFamily="34" charset="0"/>
            </a:endParaRPr>
          </a:p>
          <a:p>
            <a:r>
              <a:rPr lang="en-US" dirty="0">
                <a:latin typeface="Gill Sans MT" panose="020B0502020104020203" pitchFamily="34" charset="0"/>
              </a:rPr>
              <a:t>I’m also ridiculously picky.</a:t>
            </a:r>
          </a:p>
        </p:txBody>
      </p:sp>
      <p:sp>
        <p:nvSpPr>
          <p:cNvPr id="2" name="Date Placeholder 1">
            <a:extLst>
              <a:ext uri="{FF2B5EF4-FFF2-40B4-BE49-F238E27FC236}">
                <a16:creationId xmlns:a16="http://schemas.microsoft.com/office/drawing/2014/main" id="{DA884D8B-635B-7402-1437-04A104C24B54}"/>
              </a:ext>
            </a:extLst>
          </p:cNvPr>
          <p:cNvSpPr>
            <a:spLocks noGrp="1"/>
          </p:cNvSpPr>
          <p:nvPr>
            <p:ph type="dt" sz="half" idx="10"/>
          </p:nvPr>
        </p:nvSpPr>
        <p:spPr>
          <a:xfrm>
            <a:off x="365759" y="6464808"/>
            <a:ext cx="1539639" cy="310896"/>
          </a:xfrm>
        </p:spPr>
        <p:txBody>
          <a:bodyPr/>
          <a:lstStyle/>
          <a:p>
            <a:r>
              <a:rPr lang="en-US" dirty="0"/>
              <a:t>2024-07-06</a:t>
            </a:r>
          </a:p>
        </p:txBody>
      </p:sp>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p:txBody>
          <a:bodyPr/>
          <a:lstStyle/>
          <a:p>
            <a:r>
              <a:rPr lang="en-US" dirty="0"/>
              <a:t>Climate Change Model</a:t>
            </a: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a:lstStyle/>
          <a:p>
            <a:fld id="{58FB4751-880F-D840-AAA9-3A15815CC996}" type="slidenum">
              <a:rPr lang="en-US" smtClean="0"/>
              <a:pPr/>
              <a:t>3</a:t>
            </a:fld>
            <a:endParaRPr lang="en-US" dirty="0"/>
          </a:p>
        </p:txBody>
      </p:sp>
      <p:pic>
        <p:nvPicPr>
          <p:cNvPr id="8" name="Picture Placeholder 7" descr="A yellow sun on a cliff&#10;&#10;Description automatically generated with medium confidence">
            <a:extLst>
              <a:ext uri="{FF2B5EF4-FFF2-40B4-BE49-F238E27FC236}">
                <a16:creationId xmlns:a16="http://schemas.microsoft.com/office/drawing/2014/main" id="{B7B719E1-65AD-D331-1394-6B35FD98DBD9}"/>
              </a:ext>
            </a:extLst>
          </p:cNvPr>
          <p:cNvPicPr>
            <a:picLocks noGrp="1" noChangeAspect="1"/>
          </p:cNvPicPr>
          <p:nvPr>
            <p:ph type="pic" idx="1"/>
          </p:nvPr>
        </p:nvPicPr>
        <p:blipFill>
          <a:blip r:embed="rId2"/>
          <a:srcRect l="13638" r="13638"/>
          <a:stretch>
            <a:fillRect/>
          </a:stretch>
        </p:blipFill>
        <p:spPr>
          <a:xfrm>
            <a:off x="7752914" y="223203"/>
            <a:ext cx="4376530" cy="6018401"/>
          </a:xfrm>
        </p:spPr>
      </p:pic>
    </p:spTree>
    <p:extLst>
      <p:ext uri="{BB962C8B-B14F-4D97-AF65-F5344CB8AC3E}">
        <p14:creationId xmlns:p14="http://schemas.microsoft.com/office/powerpoint/2010/main" val="3678995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DC31-1488-8091-935A-1B03A14A5CD8}"/>
              </a:ext>
            </a:extLst>
          </p:cNvPr>
          <p:cNvSpPr>
            <a:spLocks noGrp="1"/>
          </p:cNvSpPr>
          <p:nvPr>
            <p:ph type="title"/>
          </p:nvPr>
        </p:nvSpPr>
        <p:spPr>
          <a:xfrm>
            <a:off x="576072" y="704088"/>
            <a:ext cx="10515600" cy="676656"/>
          </a:xfrm>
        </p:spPr>
        <p:txBody>
          <a:bodyPr vert="horz" lIns="91440" tIns="45720" rIns="91440" bIns="45720" rtlCol="0" anchor="ctr">
            <a:normAutofit/>
          </a:bodyPr>
          <a:lstStyle/>
          <a:p>
            <a:r>
              <a:rPr lang="en-US" sz="4100" kern="1200">
                <a:latin typeface="+mj-lt"/>
                <a:ea typeface="+mj-ea"/>
                <a:cs typeface="+mj-cs"/>
              </a:rPr>
              <a:t>The Data</a:t>
            </a:r>
          </a:p>
        </p:txBody>
      </p:sp>
      <p:sp>
        <p:nvSpPr>
          <p:cNvPr id="18" name="TextBox 17">
            <a:extLst>
              <a:ext uri="{FF2B5EF4-FFF2-40B4-BE49-F238E27FC236}">
                <a16:creationId xmlns:a16="http://schemas.microsoft.com/office/drawing/2014/main" id="{125E027F-E296-6226-222D-D914C7486E03}"/>
              </a:ext>
            </a:extLst>
          </p:cNvPr>
          <p:cNvSpPr txBox="1"/>
          <p:nvPr/>
        </p:nvSpPr>
        <p:spPr>
          <a:xfrm>
            <a:off x="576072" y="1901952"/>
            <a:ext cx="9363456" cy="3877056"/>
          </a:xfrm>
          <a:prstGeom prst="rect">
            <a:avLst/>
          </a:prstGeom>
        </p:spPr>
        <p:txBody>
          <a:bodyPr vert="horz" lIns="91440" tIns="45720" rIns="91440" bIns="45720" rtlCol="0">
            <a:normAutofit fontScale="85000" lnSpcReduction="10000"/>
          </a:bodyPr>
          <a:lstStyle/>
          <a:p>
            <a:pPr marL="228600" indent="-228600">
              <a:lnSpc>
                <a:spcPct val="90000"/>
              </a:lnSpc>
              <a:spcBef>
                <a:spcPts val="1000"/>
              </a:spcBef>
              <a:spcAft>
                <a:spcPts val="1200"/>
              </a:spcAft>
              <a:buFont typeface="Arial" panose="020B0604020202020204" pitchFamily="34" charset="0"/>
              <a:buChar char="•"/>
            </a:pPr>
            <a:r>
              <a:rPr lang="en-US" sz="2600" dirty="0"/>
              <a:t>The EIA (Energy Information Administration) has hourly energy supply data which gets updated every day. </a:t>
            </a:r>
          </a:p>
          <a:p>
            <a:pPr marL="228600" indent="-228600">
              <a:lnSpc>
                <a:spcPct val="90000"/>
              </a:lnSpc>
              <a:spcBef>
                <a:spcPts val="1000"/>
              </a:spcBef>
              <a:spcAft>
                <a:spcPts val="1200"/>
              </a:spcAft>
              <a:buFont typeface="Arial" panose="020B0604020202020204" pitchFamily="34" charset="0"/>
              <a:buChar char="•"/>
            </a:pPr>
            <a:r>
              <a:rPr lang="en-US" sz="2600" dirty="0"/>
              <a:t>Used the 4 years from 2020 – 2023 inclusive.  That’s 35,064 points, for each Solar, Wind, Nuclear, Gas, Other.  For each of 13 regions. 2,279,160 Data Points </a:t>
            </a:r>
          </a:p>
          <a:p>
            <a:pPr marL="228600" indent="-228600">
              <a:lnSpc>
                <a:spcPct val="90000"/>
              </a:lnSpc>
              <a:spcBef>
                <a:spcPts val="1000"/>
              </a:spcBef>
              <a:spcAft>
                <a:spcPts val="1200"/>
              </a:spcAft>
              <a:buFont typeface="Arial" panose="020B0604020202020204" pitchFamily="34" charset="0"/>
              <a:buChar char="•"/>
            </a:pPr>
            <a:r>
              <a:rPr lang="en-US" sz="2600" dirty="0"/>
              <a:t>Other information like cost, lifetime, etc. also from EIA where possible</a:t>
            </a:r>
          </a:p>
          <a:p>
            <a:pPr marL="228600" indent="-228600">
              <a:lnSpc>
                <a:spcPct val="90000"/>
              </a:lnSpc>
              <a:spcBef>
                <a:spcPts val="1000"/>
              </a:spcBef>
              <a:spcAft>
                <a:spcPts val="1200"/>
              </a:spcAft>
              <a:buFont typeface="Arial" panose="020B0604020202020204" pitchFamily="34" charset="0"/>
              <a:buChar char="•"/>
            </a:pPr>
            <a:r>
              <a:rPr lang="en-US" sz="2600" dirty="0"/>
              <a:t>Links to the source data are provided in the spreadsheets.</a:t>
            </a:r>
          </a:p>
          <a:p>
            <a:pPr marL="228600" indent="-228600">
              <a:lnSpc>
                <a:spcPct val="90000"/>
              </a:lnSpc>
              <a:spcBef>
                <a:spcPts val="1000"/>
              </a:spcBef>
              <a:spcAft>
                <a:spcPts val="1200"/>
              </a:spcAft>
              <a:buFont typeface="Arial" panose="020B0604020202020204" pitchFamily="34" charset="0"/>
              <a:buChar char="•"/>
            </a:pPr>
            <a:r>
              <a:rPr lang="en-US" sz="2600" dirty="0"/>
              <a:t>Note that this is the Supply.  We assume that Demand = Supply, i.e. no outages.</a:t>
            </a:r>
          </a:p>
          <a:p>
            <a:pPr marL="228600" indent="-228600">
              <a:lnSpc>
                <a:spcPct val="90000"/>
              </a:lnSpc>
              <a:spcBef>
                <a:spcPts val="1000"/>
              </a:spcBef>
              <a:spcAft>
                <a:spcPts val="1200"/>
              </a:spcAft>
              <a:buFont typeface="Arial" panose="020B0604020202020204" pitchFamily="34" charset="0"/>
              <a:buChar char="•"/>
            </a:pPr>
            <a:r>
              <a:rPr lang="en-US" sz="2600" dirty="0"/>
              <a:t>Similarly, “capacity” refers to the max supply at any hour.</a:t>
            </a:r>
          </a:p>
        </p:txBody>
      </p:sp>
      <p:sp>
        <p:nvSpPr>
          <p:cNvPr id="8" name="Date Placeholder 7">
            <a:extLst>
              <a:ext uri="{FF2B5EF4-FFF2-40B4-BE49-F238E27FC236}">
                <a16:creationId xmlns:a16="http://schemas.microsoft.com/office/drawing/2014/main" id="{3B8B492D-0778-C859-9200-08161ABEBFE5}"/>
              </a:ext>
            </a:extLst>
          </p:cNvPr>
          <p:cNvSpPr>
            <a:spLocks noGrp="1"/>
          </p:cNvSpPr>
          <p:nvPr>
            <p:ph type="dt" sz="half" idx="10"/>
          </p:nvPr>
        </p:nvSpPr>
        <p:spPr>
          <a:xfrm>
            <a:off x="365760" y="6464808"/>
            <a:ext cx="987552" cy="310896"/>
          </a:xfrm>
        </p:spPr>
        <p:txBody>
          <a:bodyPr vert="horz" lIns="91440" tIns="45720" rIns="91440" bIns="45720" rtlCol="0" anchor="ctr">
            <a:normAutofit/>
          </a:bodyPr>
          <a:lstStyle/>
          <a:p>
            <a:pPr>
              <a:spcAft>
                <a:spcPts val="600"/>
              </a:spcAft>
            </a:pPr>
            <a:r>
              <a:rPr lang="en-US" sz="1300" kern="1200">
                <a:latin typeface="+mn-lt"/>
                <a:ea typeface="+mn-ea"/>
                <a:cs typeface="+mn-cs"/>
              </a:rPr>
              <a:t>2024-07-06</a:t>
            </a:r>
          </a:p>
        </p:txBody>
      </p:sp>
      <p:sp>
        <p:nvSpPr>
          <p:cNvPr id="9" name="Footer Placeholder 8">
            <a:extLst>
              <a:ext uri="{FF2B5EF4-FFF2-40B4-BE49-F238E27FC236}">
                <a16:creationId xmlns:a16="http://schemas.microsoft.com/office/drawing/2014/main" id="{B1185DEE-1419-7DB6-949B-929195894BC8}"/>
              </a:ext>
            </a:extLst>
          </p:cNvPr>
          <p:cNvSpPr>
            <a:spLocks noGrp="1"/>
          </p:cNvSpPr>
          <p:nvPr>
            <p:ph type="ftr" sz="quarter" idx="11"/>
          </p:nvPr>
        </p:nvSpPr>
        <p:spPr>
          <a:xfrm>
            <a:off x="4379976" y="6464808"/>
            <a:ext cx="3438144" cy="310896"/>
          </a:xfrm>
        </p:spPr>
        <p:txBody>
          <a:bodyPr vert="horz" lIns="91440" tIns="45720" rIns="91440" bIns="45720" rtlCol="0" anchor="ctr">
            <a:normAutofit/>
          </a:bodyPr>
          <a:lstStyle/>
          <a:p>
            <a:pPr>
              <a:spcAft>
                <a:spcPts val="600"/>
              </a:spcAft>
            </a:pPr>
            <a:r>
              <a:rPr lang="en-US" kern="1200">
                <a:latin typeface="+mn-lt"/>
                <a:ea typeface="+mn-ea"/>
                <a:cs typeface="+mn-cs"/>
              </a:rPr>
              <a:t>Climate Change Model</a:t>
            </a:r>
          </a:p>
        </p:txBody>
      </p:sp>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a:xfrm>
            <a:off x="11027664" y="6464808"/>
            <a:ext cx="987552" cy="310896"/>
          </a:xfrm>
        </p:spPr>
        <p:txBody>
          <a:bodyPr vert="horz" lIns="91440" tIns="45720" rIns="91440" bIns="45720" rtlCol="0" anchor="ctr">
            <a:normAutofit/>
          </a:bodyPr>
          <a:lstStyle/>
          <a:p>
            <a:pPr>
              <a:spcAft>
                <a:spcPts val="600"/>
              </a:spcAft>
            </a:pPr>
            <a:fld id="{58FB4751-880F-D840-AAA9-3A15815CC996}" type="slidenum">
              <a:rPr lang="en-US" smtClean="0"/>
              <a:pPr>
                <a:spcAft>
                  <a:spcPts val="600"/>
                </a:spcAft>
              </a:pPr>
              <a:t>4</a:t>
            </a:fld>
            <a:endParaRPr lang="en-US"/>
          </a:p>
        </p:txBody>
      </p:sp>
    </p:spTree>
    <p:extLst>
      <p:ext uri="{BB962C8B-B14F-4D97-AF65-F5344CB8AC3E}">
        <p14:creationId xmlns:p14="http://schemas.microsoft.com/office/powerpoint/2010/main" val="2759600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9D87BCE-96BC-28E7-39BA-A736DB416D28}"/>
              </a:ext>
            </a:extLst>
          </p:cNvPr>
          <p:cNvSpPr>
            <a:spLocks noGrp="1"/>
          </p:cNvSpPr>
          <p:nvPr>
            <p:ph type="title"/>
          </p:nvPr>
        </p:nvSpPr>
        <p:spPr>
          <a:xfrm>
            <a:off x="576072" y="704088"/>
            <a:ext cx="10515600" cy="676656"/>
          </a:xfrm>
        </p:spPr>
        <p:txBody>
          <a:bodyPr anchor="ctr">
            <a:normAutofit/>
          </a:bodyPr>
          <a:lstStyle/>
          <a:p>
            <a:r>
              <a:rPr lang="en-US" sz="4100" dirty="0"/>
              <a:t>The Data – California, Starting 1/1/2020</a:t>
            </a:r>
          </a:p>
        </p:txBody>
      </p:sp>
      <p:sp>
        <p:nvSpPr>
          <p:cNvPr id="2" name="Date Placeholder 1">
            <a:extLst>
              <a:ext uri="{FF2B5EF4-FFF2-40B4-BE49-F238E27FC236}">
                <a16:creationId xmlns:a16="http://schemas.microsoft.com/office/drawing/2014/main" id="{2C22F033-D9E6-DA66-50BA-81F1F764B9D8}"/>
              </a:ext>
            </a:extLst>
          </p:cNvPr>
          <p:cNvSpPr>
            <a:spLocks noGrp="1"/>
          </p:cNvSpPr>
          <p:nvPr>
            <p:ph type="dt" sz="half" idx="10"/>
          </p:nvPr>
        </p:nvSpPr>
        <p:spPr>
          <a:xfrm>
            <a:off x="365760" y="6464808"/>
            <a:ext cx="987552" cy="310896"/>
          </a:xfrm>
        </p:spPr>
        <p:txBody>
          <a:bodyPr anchor="ctr">
            <a:normAutofit/>
          </a:bodyPr>
          <a:lstStyle/>
          <a:p>
            <a:pPr>
              <a:spcAft>
                <a:spcPts val="600"/>
              </a:spcAft>
            </a:pPr>
            <a:r>
              <a:rPr lang="en-US"/>
              <a:t>20XX</a:t>
            </a:r>
          </a:p>
        </p:txBody>
      </p:sp>
      <p:sp>
        <p:nvSpPr>
          <p:cNvPr id="3" name="Footer Placeholder 2">
            <a:extLst>
              <a:ext uri="{FF2B5EF4-FFF2-40B4-BE49-F238E27FC236}">
                <a16:creationId xmlns:a16="http://schemas.microsoft.com/office/drawing/2014/main" id="{FDFC72CF-1536-02E8-801E-74B303CD1C30}"/>
              </a:ext>
            </a:extLst>
          </p:cNvPr>
          <p:cNvSpPr>
            <a:spLocks noGrp="1"/>
          </p:cNvSpPr>
          <p:nvPr>
            <p:ph type="ftr" sz="quarter" idx="11"/>
          </p:nvPr>
        </p:nvSpPr>
        <p:spPr>
          <a:xfrm>
            <a:off x="4379976" y="6464808"/>
            <a:ext cx="3438144" cy="310896"/>
          </a:xfrm>
        </p:spPr>
        <p:txBody>
          <a:bodyPr anchor="ctr">
            <a:normAutofit/>
          </a:bodyPr>
          <a:lstStyle/>
          <a:p>
            <a:pPr>
              <a:spcAft>
                <a:spcPts val="600"/>
              </a:spcAft>
            </a:pPr>
            <a:r>
              <a:rPr lang="en-US"/>
              <a:t>presentation title</a:t>
            </a:r>
          </a:p>
        </p:txBody>
      </p:sp>
      <p:sp>
        <p:nvSpPr>
          <p:cNvPr id="4" name="Slide Number Placeholder 3">
            <a:extLst>
              <a:ext uri="{FF2B5EF4-FFF2-40B4-BE49-F238E27FC236}">
                <a16:creationId xmlns:a16="http://schemas.microsoft.com/office/drawing/2014/main" id="{BC79EB84-C5A8-EC51-EC08-B27AFB6F9DC4}"/>
              </a:ext>
            </a:extLst>
          </p:cNvPr>
          <p:cNvSpPr>
            <a:spLocks noGrp="1"/>
          </p:cNvSpPr>
          <p:nvPr>
            <p:ph type="sldNum" sz="quarter" idx="12"/>
          </p:nvPr>
        </p:nvSpPr>
        <p:spPr>
          <a:xfrm>
            <a:off x="11027664" y="6464808"/>
            <a:ext cx="987552" cy="310896"/>
          </a:xfrm>
        </p:spPr>
        <p:txBody>
          <a:bodyPr anchor="ctr">
            <a:normAutofit/>
          </a:bodyPr>
          <a:lstStyle/>
          <a:p>
            <a:pPr>
              <a:spcAft>
                <a:spcPts val="600"/>
              </a:spcAft>
            </a:pPr>
            <a:fld id="{58FB4751-880F-D840-AAA9-3A15815CC996}" type="slidenum">
              <a:rPr lang="en-US" smtClean="0"/>
              <a:pPr>
                <a:spcAft>
                  <a:spcPts val="600"/>
                </a:spcAft>
              </a:pPr>
              <a:t>5</a:t>
            </a:fld>
            <a:endParaRPr lang="en-US"/>
          </a:p>
        </p:txBody>
      </p:sp>
      <p:graphicFrame>
        <p:nvGraphicFramePr>
          <p:cNvPr id="7" name="Table 6">
            <a:extLst>
              <a:ext uri="{FF2B5EF4-FFF2-40B4-BE49-F238E27FC236}">
                <a16:creationId xmlns:a16="http://schemas.microsoft.com/office/drawing/2014/main" id="{3403BB38-63FB-75C5-123B-C6729E6B0DC3}"/>
              </a:ext>
            </a:extLst>
          </p:cNvPr>
          <p:cNvGraphicFramePr>
            <a:graphicFrameLocks noGrp="1"/>
          </p:cNvGraphicFramePr>
          <p:nvPr>
            <p:extLst>
              <p:ext uri="{D42A27DB-BD31-4B8C-83A1-F6EECF244321}">
                <p14:modId xmlns:p14="http://schemas.microsoft.com/office/powerpoint/2010/main" val="3678754874"/>
              </p:ext>
            </p:extLst>
          </p:nvPr>
        </p:nvGraphicFramePr>
        <p:xfrm>
          <a:off x="614505" y="1901952"/>
          <a:ext cx="9286594" cy="3877056"/>
        </p:xfrm>
        <a:graphic>
          <a:graphicData uri="http://schemas.openxmlformats.org/drawingml/2006/table">
            <a:tbl>
              <a:tblPr firstRow="1" bandRow="1">
                <a:tableStyleId>{9D7B26C5-4107-4FEC-AEDC-1716B250A1EF}</a:tableStyleId>
              </a:tblPr>
              <a:tblGrid>
                <a:gridCol w="1470257">
                  <a:extLst>
                    <a:ext uri="{9D8B030D-6E8A-4147-A177-3AD203B41FA5}">
                      <a16:colId xmlns:a16="http://schemas.microsoft.com/office/drawing/2014/main" val="3984701089"/>
                    </a:ext>
                  </a:extLst>
                </a:gridCol>
                <a:gridCol w="981094">
                  <a:extLst>
                    <a:ext uri="{9D8B030D-6E8A-4147-A177-3AD203B41FA5}">
                      <a16:colId xmlns:a16="http://schemas.microsoft.com/office/drawing/2014/main" val="2815917437"/>
                    </a:ext>
                  </a:extLst>
                </a:gridCol>
                <a:gridCol w="1068060">
                  <a:extLst>
                    <a:ext uri="{9D8B030D-6E8A-4147-A177-3AD203B41FA5}">
                      <a16:colId xmlns:a16="http://schemas.microsoft.com/office/drawing/2014/main" val="3842055712"/>
                    </a:ext>
                  </a:extLst>
                </a:gridCol>
                <a:gridCol w="978328">
                  <a:extLst>
                    <a:ext uri="{9D8B030D-6E8A-4147-A177-3AD203B41FA5}">
                      <a16:colId xmlns:a16="http://schemas.microsoft.com/office/drawing/2014/main" val="1433441825"/>
                    </a:ext>
                  </a:extLst>
                </a:gridCol>
                <a:gridCol w="967258">
                  <a:extLst>
                    <a:ext uri="{9D8B030D-6E8A-4147-A177-3AD203B41FA5}">
                      <a16:colId xmlns:a16="http://schemas.microsoft.com/office/drawing/2014/main" val="140579535"/>
                    </a:ext>
                  </a:extLst>
                </a:gridCol>
                <a:gridCol w="1068060">
                  <a:extLst>
                    <a:ext uri="{9D8B030D-6E8A-4147-A177-3AD203B41FA5}">
                      <a16:colId xmlns:a16="http://schemas.microsoft.com/office/drawing/2014/main" val="2100671859"/>
                    </a:ext>
                  </a:extLst>
                </a:gridCol>
                <a:gridCol w="1068060">
                  <a:extLst>
                    <a:ext uri="{9D8B030D-6E8A-4147-A177-3AD203B41FA5}">
                      <a16:colId xmlns:a16="http://schemas.microsoft.com/office/drawing/2014/main" val="4178545717"/>
                    </a:ext>
                  </a:extLst>
                </a:gridCol>
                <a:gridCol w="1055808">
                  <a:extLst>
                    <a:ext uri="{9D8B030D-6E8A-4147-A177-3AD203B41FA5}">
                      <a16:colId xmlns:a16="http://schemas.microsoft.com/office/drawing/2014/main" val="2539820546"/>
                    </a:ext>
                  </a:extLst>
                </a:gridCol>
                <a:gridCol w="629669">
                  <a:extLst>
                    <a:ext uri="{9D8B030D-6E8A-4147-A177-3AD203B41FA5}">
                      <a16:colId xmlns:a16="http://schemas.microsoft.com/office/drawing/2014/main" val="994204516"/>
                    </a:ext>
                  </a:extLst>
                </a:gridCol>
              </a:tblGrid>
              <a:tr h="323088">
                <a:tc>
                  <a:txBody>
                    <a:bodyPr/>
                    <a:lstStyle/>
                    <a:p>
                      <a:pPr algn="l" fontAlgn="b"/>
                      <a:r>
                        <a:rPr lang="en-US" sz="1800" b="0" u="none" strike="noStrike">
                          <a:solidFill>
                            <a:srgbClr val="000000"/>
                          </a:solidFill>
                          <a:effectLst/>
                        </a:rPr>
                        <a:t>Date</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l" fontAlgn="b"/>
                      <a:r>
                        <a:rPr lang="en-US" sz="1800" b="0" u="none" strike="noStrike">
                          <a:solidFill>
                            <a:srgbClr val="000000"/>
                          </a:solidFill>
                          <a:effectLst/>
                        </a:rPr>
                        <a:t>Solar</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l" fontAlgn="b"/>
                      <a:r>
                        <a:rPr lang="en-US" sz="1800" b="0" u="none" strike="noStrike">
                          <a:solidFill>
                            <a:srgbClr val="000000"/>
                          </a:solidFill>
                          <a:effectLst/>
                        </a:rPr>
                        <a:t>Nuclear</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l" fontAlgn="b"/>
                      <a:r>
                        <a:rPr lang="en-US" sz="1800" b="0" u="none" strike="noStrike">
                          <a:solidFill>
                            <a:srgbClr val="000000"/>
                          </a:solidFill>
                          <a:effectLst/>
                        </a:rPr>
                        <a:t>Wind</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l" fontAlgn="b"/>
                      <a:r>
                        <a:rPr lang="en-US" sz="1800" b="0" u="none" strike="noStrike">
                          <a:solidFill>
                            <a:srgbClr val="000000"/>
                          </a:solidFill>
                          <a:effectLst/>
                        </a:rPr>
                        <a:t>Coal</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l" fontAlgn="b"/>
                      <a:r>
                        <a:rPr lang="en-US" sz="1800" b="0" u="none" strike="noStrike">
                          <a:solidFill>
                            <a:srgbClr val="000000"/>
                          </a:solidFill>
                          <a:effectLst/>
                        </a:rPr>
                        <a:t>Hydro</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l" fontAlgn="b"/>
                      <a:r>
                        <a:rPr lang="en-US" sz="1800" b="0" u="none" strike="noStrike">
                          <a:solidFill>
                            <a:srgbClr val="000000"/>
                          </a:solidFill>
                          <a:effectLst/>
                        </a:rPr>
                        <a:t>Gas</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l" fontAlgn="b"/>
                      <a:r>
                        <a:rPr lang="en-US" sz="1800" b="0" u="none" strike="noStrike">
                          <a:solidFill>
                            <a:srgbClr val="000000"/>
                          </a:solidFill>
                          <a:effectLst/>
                        </a:rPr>
                        <a:t>Other</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l" fontAlgn="b"/>
                      <a:r>
                        <a:rPr lang="en-US" sz="1800" b="0" u="none" strike="noStrike">
                          <a:solidFill>
                            <a:srgbClr val="000000"/>
                          </a:solidFill>
                          <a:effectLst/>
                        </a:rPr>
                        <a:t>Oil</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3847405108"/>
                  </a:ext>
                </a:extLst>
              </a:tr>
              <a:tr h="323088">
                <a:tc>
                  <a:txBody>
                    <a:bodyPr/>
                    <a:lstStyle/>
                    <a:p>
                      <a:pPr algn="l" fontAlgn="b"/>
                      <a:r>
                        <a:rPr lang="en-US" sz="1800" b="0" u="none" strike="noStrike">
                          <a:solidFill>
                            <a:srgbClr val="000000"/>
                          </a:solidFill>
                          <a:effectLst/>
                        </a:rPr>
                        <a:t>20200101T00</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1874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2273</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242</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694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401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9123</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714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91</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1906353445"/>
                  </a:ext>
                </a:extLst>
              </a:tr>
              <a:tr h="323088">
                <a:tc>
                  <a:txBody>
                    <a:bodyPr/>
                    <a:lstStyle/>
                    <a:p>
                      <a:pPr algn="l" fontAlgn="b"/>
                      <a:r>
                        <a:rPr lang="en-US" sz="1800" b="0" u="none" strike="noStrike">
                          <a:solidFill>
                            <a:srgbClr val="000000"/>
                          </a:solidFill>
                          <a:effectLst/>
                        </a:rPr>
                        <a:t>20200101T01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2272</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1000</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608</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11414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717</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91</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1032355869"/>
                  </a:ext>
                </a:extLst>
              </a:tr>
              <a:tr h="323088">
                <a:tc>
                  <a:txBody>
                    <a:bodyPr/>
                    <a:lstStyle/>
                    <a:p>
                      <a:pPr algn="l" fontAlgn="b"/>
                      <a:r>
                        <a:rPr lang="en-US" sz="1800" b="0" u="none" strike="noStrike">
                          <a:solidFill>
                            <a:srgbClr val="000000"/>
                          </a:solidFill>
                          <a:effectLst/>
                        </a:rPr>
                        <a:t>20200101T02</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2273</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263</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1148</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1076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11254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715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91</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2171405110"/>
                  </a:ext>
                </a:extLst>
              </a:tr>
              <a:tr h="323088">
                <a:tc>
                  <a:txBody>
                    <a:bodyPr/>
                    <a:lstStyle/>
                    <a:p>
                      <a:pPr algn="l" fontAlgn="b"/>
                      <a:r>
                        <a:rPr lang="en-US" sz="1800" b="0" u="none" strike="noStrike">
                          <a:solidFill>
                            <a:srgbClr val="000000"/>
                          </a:solidFill>
                          <a:effectLst/>
                        </a:rPr>
                        <a:t>20200101T03</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dirty="0">
                          <a:solidFill>
                            <a:srgbClr val="000000"/>
                          </a:solidFill>
                          <a:effectLst/>
                        </a:rPr>
                        <a:t>2272</a:t>
                      </a:r>
                      <a:endParaRPr lang="en-US" sz="1800" b="0" i="0" u="none" strike="noStrike" dirty="0">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379</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1086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1086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10441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723</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91</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3644178256"/>
                  </a:ext>
                </a:extLst>
              </a:tr>
              <a:tr h="323088">
                <a:tc>
                  <a:txBody>
                    <a:bodyPr/>
                    <a:lstStyle/>
                    <a:p>
                      <a:pPr algn="l" fontAlgn="b"/>
                      <a:r>
                        <a:rPr lang="en-US" sz="1800" b="0" u="none" strike="noStrike">
                          <a:solidFill>
                            <a:srgbClr val="000000"/>
                          </a:solidFill>
                          <a:effectLst/>
                        </a:rPr>
                        <a:t>20200101T04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2272</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351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965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876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10151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726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46</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1968486262"/>
                  </a:ext>
                </a:extLst>
              </a:tr>
              <a:tr h="323088">
                <a:tc>
                  <a:txBody>
                    <a:bodyPr/>
                    <a:lstStyle/>
                    <a:p>
                      <a:pPr algn="l" fontAlgn="b"/>
                      <a:r>
                        <a:rPr lang="en-US" sz="1800" b="0" u="none" strike="noStrike">
                          <a:solidFill>
                            <a:srgbClr val="000000"/>
                          </a:solidFill>
                          <a:effectLst/>
                        </a:rPr>
                        <a:t>20200101T05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2272</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278</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968</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538</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9988</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732</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90</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2832866087"/>
                  </a:ext>
                </a:extLst>
              </a:tr>
              <a:tr h="323088">
                <a:tc>
                  <a:txBody>
                    <a:bodyPr/>
                    <a:lstStyle/>
                    <a:p>
                      <a:pPr algn="l" fontAlgn="b"/>
                      <a:r>
                        <a:rPr lang="en-US" sz="1800" b="0" u="none" strike="noStrike">
                          <a:solidFill>
                            <a:srgbClr val="000000"/>
                          </a:solidFill>
                          <a:effectLst/>
                        </a:rPr>
                        <a:t>20200101T06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249</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971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511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9910</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745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90</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720710161"/>
                  </a:ext>
                </a:extLst>
              </a:tr>
              <a:tr h="323088">
                <a:tc>
                  <a:txBody>
                    <a:bodyPr/>
                    <a:lstStyle/>
                    <a:p>
                      <a:pPr algn="l" fontAlgn="b"/>
                      <a:r>
                        <a:rPr lang="en-US" sz="1800" b="0" u="none" strike="noStrike">
                          <a:solidFill>
                            <a:srgbClr val="000000"/>
                          </a:solidFill>
                          <a:effectLst/>
                        </a:rPr>
                        <a:t>20200101T07</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334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982</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429</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10313</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745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46</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1582198378"/>
                  </a:ext>
                </a:extLst>
              </a:tr>
              <a:tr h="323088">
                <a:tc>
                  <a:txBody>
                    <a:bodyPr/>
                    <a:lstStyle/>
                    <a:p>
                      <a:pPr algn="l" fontAlgn="b"/>
                      <a:r>
                        <a:rPr lang="en-US" sz="1800" b="0" u="none" strike="noStrike">
                          <a:solidFill>
                            <a:srgbClr val="000000"/>
                          </a:solidFill>
                          <a:effectLst/>
                        </a:rPr>
                        <a:t>20200101T08</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289</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978</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397</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10294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747</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46</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1087917257"/>
                  </a:ext>
                </a:extLst>
              </a:tr>
              <a:tr h="323088">
                <a:tc>
                  <a:txBody>
                    <a:bodyPr/>
                    <a:lstStyle/>
                    <a:p>
                      <a:pPr algn="l" fontAlgn="b"/>
                      <a:r>
                        <a:rPr lang="en-US" sz="1800" b="0" u="none" strike="noStrike">
                          <a:solidFill>
                            <a:srgbClr val="000000"/>
                          </a:solidFill>
                          <a:effectLst/>
                        </a:rPr>
                        <a:t>20200101T09</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2272</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334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771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304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10236</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750</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91</a:t>
                      </a:r>
                      <a:endParaRPr lang="en-US" sz="1800" b="0" i="0" u="none" strike="noStrike">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842466550"/>
                  </a:ext>
                </a:extLst>
              </a:tr>
              <a:tr h="323088">
                <a:tc>
                  <a:txBody>
                    <a:bodyPr/>
                    <a:lstStyle/>
                    <a:p>
                      <a:pPr algn="l" fontAlgn="b"/>
                      <a:r>
                        <a:rPr lang="en-US" sz="1800" b="0" u="none" strike="noStrike">
                          <a:solidFill>
                            <a:srgbClr val="000000"/>
                          </a:solidFill>
                          <a:effectLst/>
                        </a:rPr>
                        <a:t>20200101T10</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-27</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2274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654</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665</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259</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9321</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a:solidFill>
                            <a:srgbClr val="000000"/>
                          </a:solidFill>
                          <a:effectLst/>
                        </a:rPr>
                        <a:t>749</a:t>
                      </a:r>
                      <a:endParaRPr lang="en-US" sz="1800" b="0" i="0" u="none" strike="noStrike">
                        <a:solidFill>
                          <a:srgbClr val="000000"/>
                        </a:solidFill>
                        <a:effectLst/>
                        <a:latin typeface="Aptos Narrow" panose="020B0004020202020204" pitchFamily="34" charset="0"/>
                      </a:endParaRPr>
                    </a:p>
                  </a:txBody>
                  <a:tcPr marL="4576" marR="4576" marT="4576" marB="0" anchor="b"/>
                </a:tc>
                <a:tc>
                  <a:txBody>
                    <a:bodyPr/>
                    <a:lstStyle/>
                    <a:p>
                      <a:pPr algn="r" fontAlgn="b"/>
                      <a:r>
                        <a:rPr lang="en-US" sz="1800" b="0" u="none" strike="noStrike" dirty="0">
                          <a:solidFill>
                            <a:srgbClr val="000000"/>
                          </a:solidFill>
                          <a:effectLst/>
                        </a:rPr>
                        <a:t>90</a:t>
                      </a:r>
                      <a:endParaRPr lang="en-US" sz="1800" b="0" i="0" u="none" strike="noStrike" dirty="0">
                        <a:solidFill>
                          <a:srgbClr val="000000"/>
                        </a:solidFill>
                        <a:effectLst/>
                        <a:latin typeface="Aptos Narrow" panose="020B0004020202020204" pitchFamily="34" charset="0"/>
                      </a:endParaRPr>
                    </a:p>
                  </a:txBody>
                  <a:tcPr marL="4576" marR="4576" marT="4576" marB="0" anchor="b"/>
                </a:tc>
                <a:extLst>
                  <a:ext uri="{0D108BD9-81ED-4DB2-BD59-A6C34878D82A}">
                    <a16:rowId xmlns:a16="http://schemas.microsoft.com/office/drawing/2014/main" val="2114665653"/>
                  </a:ext>
                </a:extLst>
              </a:tr>
            </a:tbl>
          </a:graphicData>
        </a:graphic>
      </p:graphicFrame>
    </p:spTree>
    <p:extLst>
      <p:ext uri="{BB962C8B-B14F-4D97-AF65-F5344CB8AC3E}">
        <p14:creationId xmlns:p14="http://schemas.microsoft.com/office/powerpoint/2010/main" val="3838633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DC31-1488-8091-935A-1B03A14A5CD8}"/>
              </a:ext>
            </a:extLst>
          </p:cNvPr>
          <p:cNvSpPr>
            <a:spLocks noGrp="1"/>
          </p:cNvSpPr>
          <p:nvPr>
            <p:ph type="title"/>
          </p:nvPr>
        </p:nvSpPr>
        <p:spPr>
          <a:xfrm>
            <a:off x="512064" y="393192"/>
            <a:ext cx="10515600" cy="1613030"/>
          </a:xfrm>
        </p:spPr>
        <p:txBody>
          <a:bodyPr/>
          <a:lstStyle/>
          <a:p>
            <a:r>
              <a:rPr lang="en-US" dirty="0"/>
              <a:t>The Knobs</a:t>
            </a:r>
          </a:p>
        </p:txBody>
      </p:sp>
      <p:sp>
        <p:nvSpPr>
          <p:cNvPr id="4" name="Content Placeholder 3">
            <a:extLst>
              <a:ext uri="{FF2B5EF4-FFF2-40B4-BE49-F238E27FC236}">
                <a16:creationId xmlns:a16="http://schemas.microsoft.com/office/drawing/2014/main" id="{45A9ECAA-48CB-8CE7-4844-AA2C77D9E359}"/>
              </a:ext>
            </a:extLst>
          </p:cNvPr>
          <p:cNvSpPr>
            <a:spLocks noGrp="1"/>
          </p:cNvSpPr>
          <p:nvPr>
            <p:ph sz="half" idx="2"/>
          </p:nvPr>
        </p:nvSpPr>
        <p:spPr>
          <a:xfrm>
            <a:off x="585484" y="1656452"/>
            <a:ext cx="6849401" cy="4744347"/>
          </a:xfrm>
        </p:spPr>
        <p:txBody>
          <a:bodyPr>
            <a:normAutofit lnSpcReduction="10000"/>
          </a:bodyPr>
          <a:lstStyle/>
          <a:p>
            <a:pPr>
              <a:spcAft>
                <a:spcPts val="1200"/>
              </a:spcAft>
            </a:pPr>
            <a:r>
              <a:rPr lang="en-US" sz="2000" dirty="0">
                <a:latin typeface="Gill Sans MT" panose="020B0502020104020203" pitchFamily="34" charset="0"/>
              </a:rPr>
              <a:t>For each run, we vary various parameters</a:t>
            </a:r>
          </a:p>
          <a:p>
            <a:pPr>
              <a:spcAft>
                <a:spcPts val="1200"/>
              </a:spcAft>
            </a:pPr>
            <a:r>
              <a:rPr lang="en-US" sz="2000" dirty="0">
                <a:latin typeface="Gill Sans MT" panose="020B0502020104020203" pitchFamily="34" charset="0"/>
              </a:rPr>
              <a:t>The key one is the price on CO2 – how much incentive does it take for each improvement</a:t>
            </a:r>
          </a:p>
          <a:p>
            <a:pPr>
              <a:spcAft>
                <a:spcPts val="1200"/>
              </a:spcAft>
            </a:pPr>
            <a:r>
              <a:rPr lang="en-US" sz="2000" dirty="0">
                <a:latin typeface="Gill Sans MT" panose="020B0502020104020203" pitchFamily="34" charset="0"/>
              </a:rPr>
              <a:t>Demand is another key one – how much does total demand go up each year.  This may have to be revisited due to AI.</a:t>
            </a:r>
          </a:p>
          <a:p>
            <a:pPr>
              <a:spcAft>
                <a:spcPts val="1200"/>
              </a:spcAft>
            </a:pPr>
            <a:r>
              <a:rPr lang="en-US" sz="2000" dirty="0">
                <a:latin typeface="Gill Sans MT" panose="020B0502020104020203" pitchFamily="34" charset="0"/>
              </a:rPr>
              <a:t>Interest rate for loans is another important general one.  If the government supplies low-cost loans, nuclear(especially) becomes cheaper.</a:t>
            </a:r>
          </a:p>
          <a:p>
            <a:pPr>
              <a:spcAft>
                <a:spcPts val="1200"/>
              </a:spcAft>
            </a:pPr>
            <a:r>
              <a:rPr lang="en-US" sz="2000" dirty="0">
                <a:latin typeface="Gill Sans MT" panose="020B0502020104020203" pitchFamily="34" charset="0"/>
              </a:rPr>
              <a:t>For each energy source, we can vary:</a:t>
            </a:r>
          </a:p>
          <a:p>
            <a:pPr lvl="1">
              <a:spcAft>
                <a:spcPts val="1200"/>
              </a:spcAft>
            </a:pPr>
            <a:r>
              <a:rPr lang="en-US" sz="1800" dirty="0">
                <a:latin typeface="Gill Sans MT" panose="020B0502020104020203" pitchFamily="34" charset="0"/>
              </a:rPr>
              <a:t>Capital, Fixed, and Variable Cost</a:t>
            </a:r>
          </a:p>
          <a:p>
            <a:pPr lvl="1">
              <a:spcAft>
                <a:spcPts val="1200"/>
              </a:spcAft>
            </a:pPr>
            <a:r>
              <a:rPr lang="en-US" sz="1800" dirty="0">
                <a:latin typeface="Gill Sans MT" panose="020B0502020104020203" pitchFamily="34" charset="0"/>
              </a:rPr>
              <a:t>Lifetime</a:t>
            </a:r>
          </a:p>
          <a:p>
            <a:pPr lvl="1">
              <a:spcAft>
                <a:spcPts val="1200"/>
              </a:spcAft>
            </a:pPr>
            <a:r>
              <a:rPr lang="en-US" sz="1800" dirty="0">
                <a:latin typeface="Gill Sans MT" panose="020B0502020104020203" pitchFamily="34" charset="0"/>
              </a:rPr>
              <a:t>Max Growth Rate</a:t>
            </a:r>
          </a:p>
          <a:p>
            <a:endParaRPr lang="en-US" sz="2000" dirty="0">
              <a:latin typeface="Gill Sans MT" panose="020B0502020104020203" pitchFamily="34" charset="0"/>
            </a:endParaRPr>
          </a:p>
          <a:p>
            <a:endParaRPr lang="en-US" sz="2000" dirty="0">
              <a:latin typeface="Gill Sans MT" panose="020B0502020104020203" pitchFamily="34" charset="0"/>
            </a:endParaRPr>
          </a:p>
          <a:p>
            <a:endParaRPr lang="en-US" sz="2000" dirty="0">
              <a:latin typeface="Gill Sans MT" panose="020B0502020104020203" pitchFamily="34" charset="0"/>
            </a:endParaRPr>
          </a:p>
          <a:p>
            <a:endParaRPr lang="en-US" sz="2000" dirty="0">
              <a:latin typeface="Gill Sans MT" panose="020B0502020104020203" pitchFamily="34" charset="0"/>
            </a:endParaRPr>
          </a:p>
        </p:txBody>
      </p:sp>
      <p:sp>
        <p:nvSpPr>
          <p:cNvPr id="8" name="Date Placeholder 7">
            <a:extLst>
              <a:ext uri="{FF2B5EF4-FFF2-40B4-BE49-F238E27FC236}">
                <a16:creationId xmlns:a16="http://schemas.microsoft.com/office/drawing/2014/main" id="{3B8B492D-0778-C859-9200-08161ABEBFE5}"/>
              </a:ext>
            </a:extLst>
          </p:cNvPr>
          <p:cNvSpPr>
            <a:spLocks noGrp="1"/>
          </p:cNvSpPr>
          <p:nvPr>
            <p:ph type="dt" sz="half" idx="10"/>
          </p:nvPr>
        </p:nvSpPr>
        <p:spPr>
          <a:xfrm>
            <a:off x="365760" y="6400800"/>
            <a:ext cx="1917846" cy="374904"/>
          </a:xfrm>
        </p:spPr>
        <p:txBody>
          <a:bodyPr/>
          <a:lstStyle/>
          <a:p>
            <a:r>
              <a:rPr lang="en-US" dirty="0"/>
              <a:t>2024-07-06</a:t>
            </a:r>
          </a:p>
        </p:txBody>
      </p:sp>
      <p:sp>
        <p:nvSpPr>
          <p:cNvPr id="9" name="Footer Placeholder 8">
            <a:extLst>
              <a:ext uri="{FF2B5EF4-FFF2-40B4-BE49-F238E27FC236}">
                <a16:creationId xmlns:a16="http://schemas.microsoft.com/office/drawing/2014/main" id="{B1185DEE-1419-7DB6-949B-929195894BC8}"/>
              </a:ext>
            </a:extLst>
          </p:cNvPr>
          <p:cNvSpPr>
            <a:spLocks noGrp="1"/>
          </p:cNvSpPr>
          <p:nvPr>
            <p:ph type="ftr" sz="quarter" idx="11"/>
          </p:nvPr>
        </p:nvSpPr>
        <p:spPr/>
        <p:txBody>
          <a:bodyPr/>
          <a:lstStyle/>
          <a:p>
            <a:r>
              <a:rPr lang="en-US" dirty="0"/>
              <a:t>Climate Change Model</a:t>
            </a:r>
          </a:p>
        </p:txBody>
      </p:sp>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a:lstStyle/>
          <a:p>
            <a:fld id="{58FB4751-880F-D840-AAA9-3A15815CC996}" type="slidenum">
              <a:rPr lang="en-US" smtClean="0"/>
              <a:pPr/>
              <a:t>6</a:t>
            </a:fld>
            <a:endParaRPr lang="en-US" dirty="0"/>
          </a:p>
        </p:txBody>
      </p:sp>
      <p:sp>
        <p:nvSpPr>
          <p:cNvPr id="13" name="Content Placeholder 3">
            <a:extLst>
              <a:ext uri="{FF2B5EF4-FFF2-40B4-BE49-F238E27FC236}">
                <a16:creationId xmlns:a16="http://schemas.microsoft.com/office/drawing/2014/main" id="{FC7801B7-1D0C-1525-B1F0-AA11B5AD992F}"/>
              </a:ext>
            </a:extLst>
          </p:cNvPr>
          <p:cNvSpPr txBox="1">
            <a:spLocks/>
          </p:cNvSpPr>
          <p:nvPr/>
        </p:nvSpPr>
        <p:spPr>
          <a:xfrm>
            <a:off x="432637" y="4057794"/>
            <a:ext cx="6770504" cy="2154747"/>
          </a:xfrm>
          <a:prstGeom prst="rect">
            <a:avLst/>
          </a:prstGeom>
        </p:spPr>
        <p:txBody>
          <a:bodyPr vert="horz" lIns="91440" tIns="45720" rIns="91440" bIns="45720" rtlCol="0">
            <a:normAutofit/>
          </a:bodyPr>
          <a:lstStyle>
            <a:lvl1pPr marL="283464" indent="-283464" algn="l" defTabSz="914400" rtl="0" eaLnBrk="1" latinLnBrk="0" hangingPunct="1">
              <a:lnSpc>
                <a:spcPct val="100000"/>
              </a:lnSpc>
              <a:spcBef>
                <a:spcPts val="0"/>
              </a:spcBef>
              <a:buFont typeface="Courier New" panose="02070309020205020404" pitchFamily="49" charset="0"/>
              <a:buChar char="o"/>
              <a:defRPr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919417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Straight Arrow Connector 74">
            <a:extLst>
              <a:ext uri="{FF2B5EF4-FFF2-40B4-BE49-F238E27FC236}">
                <a16:creationId xmlns:a16="http://schemas.microsoft.com/office/drawing/2014/main" id="{A5C68EF6-D933-3E41-6618-B321479A2803}"/>
              </a:ext>
            </a:extLst>
          </p:cNvPr>
          <p:cNvCxnSpPr>
            <a:cxnSpLocks/>
          </p:cNvCxnSpPr>
          <p:nvPr/>
        </p:nvCxnSpPr>
        <p:spPr>
          <a:xfrm>
            <a:off x="3585445" y="6182361"/>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5" name="Straight Arrow Connector 64">
            <a:extLst>
              <a:ext uri="{FF2B5EF4-FFF2-40B4-BE49-F238E27FC236}">
                <a16:creationId xmlns:a16="http://schemas.microsoft.com/office/drawing/2014/main" id="{D862FA41-C960-13B1-60D8-35BD6D1103CB}"/>
              </a:ext>
            </a:extLst>
          </p:cNvPr>
          <p:cNvCxnSpPr>
            <a:cxnSpLocks/>
          </p:cNvCxnSpPr>
          <p:nvPr/>
        </p:nvCxnSpPr>
        <p:spPr>
          <a:xfrm>
            <a:off x="6747799" y="6245883"/>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7" name="Straight Arrow Connector 66">
            <a:extLst>
              <a:ext uri="{FF2B5EF4-FFF2-40B4-BE49-F238E27FC236}">
                <a16:creationId xmlns:a16="http://schemas.microsoft.com/office/drawing/2014/main" id="{568586D6-AE38-9B3B-D143-55E8982D92BA}"/>
              </a:ext>
            </a:extLst>
          </p:cNvPr>
          <p:cNvCxnSpPr>
            <a:cxnSpLocks/>
          </p:cNvCxnSpPr>
          <p:nvPr/>
        </p:nvCxnSpPr>
        <p:spPr>
          <a:xfrm>
            <a:off x="1403121" y="6184613"/>
            <a:ext cx="763355" cy="132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5B529772-C25A-E174-E998-431921A9DDCA}"/>
              </a:ext>
            </a:extLst>
          </p:cNvPr>
          <p:cNvCxnSpPr>
            <a:cxnSpLocks/>
            <a:stCxn id="35" idx="3"/>
            <a:endCxn id="41" idx="2"/>
          </p:cNvCxnSpPr>
          <p:nvPr/>
        </p:nvCxnSpPr>
        <p:spPr>
          <a:xfrm>
            <a:off x="1915689" y="2474259"/>
            <a:ext cx="942638" cy="68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CD284ECA-3613-8367-6F99-B03BF2128925}"/>
              </a:ext>
            </a:extLst>
          </p:cNvPr>
          <p:cNvCxnSpPr>
            <a:cxnSpLocks/>
          </p:cNvCxnSpPr>
          <p:nvPr/>
        </p:nvCxnSpPr>
        <p:spPr>
          <a:xfrm>
            <a:off x="1907760" y="3079294"/>
            <a:ext cx="942638" cy="68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1594D1A6-1A1F-D15B-CE44-0C0E7F0FC2B6}"/>
              </a:ext>
            </a:extLst>
          </p:cNvPr>
          <p:cNvCxnSpPr>
            <a:cxnSpLocks/>
          </p:cNvCxnSpPr>
          <p:nvPr/>
        </p:nvCxnSpPr>
        <p:spPr>
          <a:xfrm>
            <a:off x="1899831" y="3684329"/>
            <a:ext cx="942638" cy="68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E564E15A-180A-CCCA-79FA-9E1515559E78}"/>
              </a:ext>
            </a:extLst>
          </p:cNvPr>
          <p:cNvCxnSpPr>
            <a:cxnSpLocks/>
          </p:cNvCxnSpPr>
          <p:nvPr/>
        </p:nvCxnSpPr>
        <p:spPr>
          <a:xfrm>
            <a:off x="1891902" y="4289364"/>
            <a:ext cx="942638" cy="68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2DFC90D9-4A99-CE41-52F5-29AE77EF68FF}"/>
              </a:ext>
            </a:extLst>
          </p:cNvPr>
          <p:cNvCxnSpPr>
            <a:cxnSpLocks/>
          </p:cNvCxnSpPr>
          <p:nvPr/>
        </p:nvCxnSpPr>
        <p:spPr>
          <a:xfrm>
            <a:off x="1891902" y="4885616"/>
            <a:ext cx="942638" cy="68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01A1DB4D-53D2-161D-B35C-2436B3B1FE05}"/>
              </a:ext>
            </a:extLst>
          </p:cNvPr>
          <p:cNvCxnSpPr>
            <a:cxnSpLocks/>
          </p:cNvCxnSpPr>
          <p:nvPr/>
        </p:nvCxnSpPr>
        <p:spPr>
          <a:xfrm>
            <a:off x="6747799" y="4844875"/>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39E29414-8710-8CED-B085-45F4BE5124DA}"/>
              </a:ext>
            </a:extLst>
          </p:cNvPr>
          <p:cNvCxnSpPr>
            <a:cxnSpLocks/>
          </p:cNvCxnSpPr>
          <p:nvPr/>
        </p:nvCxnSpPr>
        <p:spPr>
          <a:xfrm>
            <a:off x="6761106" y="4248623"/>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B266A9D0-9B8F-6BAB-9FF4-584543CD88F8}"/>
              </a:ext>
            </a:extLst>
          </p:cNvPr>
          <p:cNvCxnSpPr>
            <a:cxnSpLocks/>
          </p:cNvCxnSpPr>
          <p:nvPr/>
        </p:nvCxnSpPr>
        <p:spPr>
          <a:xfrm>
            <a:off x="6771724" y="3653823"/>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3" name="Straight Arrow Connector 62">
            <a:extLst>
              <a:ext uri="{FF2B5EF4-FFF2-40B4-BE49-F238E27FC236}">
                <a16:creationId xmlns:a16="http://schemas.microsoft.com/office/drawing/2014/main" id="{B65348A4-FB77-840A-E181-8DCBE6CBB4FA}"/>
              </a:ext>
            </a:extLst>
          </p:cNvPr>
          <p:cNvCxnSpPr>
            <a:cxnSpLocks/>
          </p:cNvCxnSpPr>
          <p:nvPr/>
        </p:nvCxnSpPr>
        <p:spPr>
          <a:xfrm>
            <a:off x="6782342" y="3059023"/>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5B14ED6C-C76A-737A-0684-8124420D091F}"/>
              </a:ext>
            </a:extLst>
          </p:cNvPr>
          <p:cNvCxnSpPr>
            <a:cxnSpLocks/>
          </p:cNvCxnSpPr>
          <p:nvPr/>
        </p:nvCxnSpPr>
        <p:spPr>
          <a:xfrm>
            <a:off x="6774413" y="2477638"/>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B5453B39-4F7B-18BA-D6E7-C099A72CEDB6}"/>
              </a:ext>
            </a:extLst>
          </p:cNvPr>
          <p:cNvCxnSpPr>
            <a:cxnSpLocks/>
          </p:cNvCxnSpPr>
          <p:nvPr/>
        </p:nvCxnSpPr>
        <p:spPr>
          <a:xfrm>
            <a:off x="5239619" y="4828325"/>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B7CA8A4F-8D32-5CCD-D0F5-EC9E87010490}"/>
              </a:ext>
            </a:extLst>
          </p:cNvPr>
          <p:cNvCxnSpPr>
            <a:cxnSpLocks/>
          </p:cNvCxnSpPr>
          <p:nvPr/>
        </p:nvCxnSpPr>
        <p:spPr>
          <a:xfrm>
            <a:off x="5252926" y="4232073"/>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6B4B0AD8-ED3B-802A-CF47-235E8554BD92}"/>
              </a:ext>
            </a:extLst>
          </p:cNvPr>
          <p:cNvCxnSpPr>
            <a:cxnSpLocks/>
          </p:cNvCxnSpPr>
          <p:nvPr/>
        </p:nvCxnSpPr>
        <p:spPr>
          <a:xfrm>
            <a:off x="5263544" y="3637273"/>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Straight Arrow Connector 23">
            <a:extLst>
              <a:ext uri="{FF2B5EF4-FFF2-40B4-BE49-F238E27FC236}">
                <a16:creationId xmlns:a16="http://schemas.microsoft.com/office/drawing/2014/main" id="{FF11563E-9329-851B-CDF2-06017DBB34CC}"/>
              </a:ext>
            </a:extLst>
          </p:cNvPr>
          <p:cNvCxnSpPr>
            <a:cxnSpLocks/>
          </p:cNvCxnSpPr>
          <p:nvPr/>
        </p:nvCxnSpPr>
        <p:spPr>
          <a:xfrm>
            <a:off x="5274162" y="3042473"/>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D8EF8D9B-4769-6FF0-C9E4-8E44AD269A30}"/>
              </a:ext>
            </a:extLst>
          </p:cNvPr>
          <p:cNvCxnSpPr>
            <a:cxnSpLocks/>
          </p:cNvCxnSpPr>
          <p:nvPr/>
        </p:nvCxnSpPr>
        <p:spPr>
          <a:xfrm>
            <a:off x="5266233" y="2461088"/>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Title 9">
            <a:extLst>
              <a:ext uri="{FF2B5EF4-FFF2-40B4-BE49-F238E27FC236}">
                <a16:creationId xmlns:a16="http://schemas.microsoft.com/office/drawing/2014/main" id="{6F3B3A92-9397-7CEC-2BF9-034174841CD7}"/>
              </a:ext>
            </a:extLst>
          </p:cNvPr>
          <p:cNvSpPr>
            <a:spLocks noGrp="1"/>
          </p:cNvSpPr>
          <p:nvPr>
            <p:ph type="title"/>
          </p:nvPr>
        </p:nvSpPr>
        <p:spPr/>
        <p:txBody>
          <a:bodyPr/>
          <a:lstStyle/>
          <a:p>
            <a:r>
              <a:rPr lang="en-US" dirty="0"/>
              <a:t>Model Flow 1</a:t>
            </a:r>
          </a:p>
        </p:txBody>
      </p:sp>
      <p:sp>
        <p:nvSpPr>
          <p:cNvPr id="18" name="Text Placeholder 17">
            <a:extLst>
              <a:ext uri="{FF2B5EF4-FFF2-40B4-BE49-F238E27FC236}">
                <a16:creationId xmlns:a16="http://schemas.microsoft.com/office/drawing/2014/main" id="{E2112E65-2411-06F8-47B2-AB8E8648D23B}"/>
              </a:ext>
            </a:extLst>
          </p:cNvPr>
          <p:cNvSpPr>
            <a:spLocks noGrp="1"/>
          </p:cNvSpPr>
          <p:nvPr>
            <p:ph type="body" sz="quarter" idx="20"/>
          </p:nvPr>
        </p:nvSpPr>
        <p:spPr>
          <a:xfrm>
            <a:off x="607334" y="1567132"/>
            <a:ext cx="1358891" cy="510411"/>
          </a:xfrm>
        </p:spPr>
        <p:txBody>
          <a:bodyPr/>
          <a:lstStyle/>
          <a:p>
            <a:r>
              <a:rPr lang="en-US" dirty="0"/>
              <a:t>Capacity  Last Year</a:t>
            </a:r>
          </a:p>
          <a:p>
            <a:r>
              <a:rPr lang="en-US" b="1" dirty="0"/>
              <a:t>-</a:t>
            </a:r>
            <a:r>
              <a:rPr lang="en-US" dirty="0"/>
              <a:t> Retirement</a:t>
            </a:r>
          </a:p>
        </p:txBody>
      </p:sp>
      <p:sp>
        <p:nvSpPr>
          <p:cNvPr id="3" name="Date Placeholder 2">
            <a:extLst>
              <a:ext uri="{FF2B5EF4-FFF2-40B4-BE49-F238E27FC236}">
                <a16:creationId xmlns:a16="http://schemas.microsoft.com/office/drawing/2014/main" id="{3790DE8A-3ADC-1E46-38EF-769B1F08CBCC}"/>
              </a:ext>
            </a:extLst>
          </p:cNvPr>
          <p:cNvSpPr>
            <a:spLocks noGrp="1"/>
          </p:cNvSpPr>
          <p:nvPr>
            <p:ph type="dt" sz="half" idx="4294967295"/>
          </p:nvPr>
        </p:nvSpPr>
        <p:spPr>
          <a:xfrm>
            <a:off x="0" y="6464300"/>
            <a:ext cx="987425" cy="311150"/>
          </a:xfrm>
        </p:spPr>
        <p:txBody>
          <a:bodyPr/>
          <a:lstStyle/>
          <a:p>
            <a:r>
              <a:rPr lang="en-US"/>
              <a:t>20XX</a:t>
            </a:r>
            <a:endParaRPr lang="en-US" dirty="0"/>
          </a:p>
        </p:txBody>
      </p:sp>
      <p:sp>
        <p:nvSpPr>
          <p:cNvPr id="4" name="Footer Placeholder 3">
            <a:extLst>
              <a:ext uri="{FF2B5EF4-FFF2-40B4-BE49-F238E27FC236}">
                <a16:creationId xmlns:a16="http://schemas.microsoft.com/office/drawing/2014/main" id="{6949B66E-9B33-442D-491A-8D81C8862F69}"/>
              </a:ext>
            </a:extLst>
          </p:cNvPr>
          <p:cNvSpPr>
            <a:spLocks noGrp="1"/>
          </p:cNvSpPr>
          <p:nvPr>
            <p:ph type="ftr" sz="quarter" idx="4294967295"/>
          </p:nvPr>
        </p:nvSpPr>
        <p:spPr>
          <a:xfrm>
            <a:off x="8753475" y="6464300"/>
            <a:ext cx="3438525" cy="311150"/>
          </a:xfrm>
        </p:spPr>
        <p:txBody>
          <a:bodyPr/>
          <a:lstStyle/>
          <a:p>
            <a:r>
              <a:rPr lang="en-US"/>
              <a:t>Climate Change Model</a:t>
            </a:r>
            <a:endParaRPr lang="en-US" dirty="0"/>
          </a:p>
        </p:txBody>
      </p:sp>
      <p:sp>
        <p:nvSpPr>
          <p:cNvPr id="5" name="Slide Number Placeholder 4">
            <a:extLst>
              <a:ext uri="{FF2B5EF4-FFF2-40B4-BE49-F238E27FC236}">
                <a16:creationId xmlns:a16="http://schemas.microsoft.com/office/drawing/2014/main" id="{F555ECD1-5AD7-1390-A480-7EF11D080970}"/>
              </a:ext>
            </a:extLst>
          </p:cNvPr>
          <p:cNvSpPr>
            <a:spLocks noGrp="1"/>
          </p:cNvSpPr>
          <p:nvPr>
            <p:ph type="sldNum" sz="quarter" idx="4294967295"/>
          </p:nvPr>
        </p:nvSpPr>
        <p:spPr>
          <a:xfrm>
            <a:off x="11204575" y="6464300"/>
            <a:ext cx="987425" cy="311150"/>
          </a:xfrm>
        </p:spPr>
        <p:txBody>
          <a:bodyPr/>
          <a:lstStyle/>
          <a:p>
            <a:fld id="{58FB4751-880F-D840-AAA9-3A15815CC996}" type="slidenum">
              <a:rPr lang="en-US" smtClean="0"/>
              <a:pPr/>
              <a:t>7</a:t>
            </a:fld>
            <a:endParaRPr lang="en-US" dirty="0"/>
          </a:p>
        </p:txBody>
      </p:sp>
      <p:sp>
        <p:nvSpPr>
          <p:cNvPr id="35" name="Rectangle: Rounded Corners 34">
            <a:extLst>
              <a:ext uri="{FF2B5EF4-FFF2-40B4-BE49-F238E27FC236}">
                <a16:creationId xmlns:a16="http://schemas.microsoft.com/office/drawing/2014/main" id="{2E78177A-A3B8-FB94-D4E5-2F4C637A1A45}"/>
              </a:ext>
            </a:extLst>
          </p:cNvPr>
          <p:cNvSpPr/>
          <p:nvPr/>
        </p:nvSpPr>
        <p:spPr>
          <a:xfrm>
            <a:off x="657871" y="2188767"/>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Solar</a:t>
            </a:r>
          </a:p>
        </p:txBody>
      </p:sp>
      <p:sp>
        <p:nvSpPr>
          <p:cNvPr id="36" name="Rectangle: Rounded Corners 35">
            <a:extLst>
              <a:ext uri="{FF2B5EF4-FFF2-40B4-BE49-F238E27FC236}">
                <a16:creationId xmlns:a16="http://schemas.microsoft.com/office/drawing/2014/main" id="{AFDCC8DE-36A8-A926-96B7-55A48A6681F8}"/>
              </a:ext>
            </a:extLst>
          </p:cNvPr>
          <p:cNvSpPr/>
          <p:nvPr/>
        </p:nvSpPr>
        <p:spPr>
          <a:xfrm>
            <a:off x="657871" y="2759750"/>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Wind</a:t>
            </a:r>
          </a:p>
        </p:txBody>
      </p:sp>
      <p:sp>
        <p:nvSpPr>
          <p:cNvPr id="37" name="Rectangle: Rounded Corners 36">
            <a:extLst>
              <a:ext uri="{FF2B5EF4-FFF2-40B4-BE49-F238E27FC236}">
                <a16:creationId xmlns:a16="http://schemas.microsoft.com/office/drawing/2014/main" id="{7735E49C-059C-35E4-289E-5DFA4BFE27F1}"/>
              </a:ext>
            </a:extLst>
          </p:cNvPr>
          <p:cNvSpPr/>
          <p:nvPr/>
        </p:nvSpPr>
        <p:spPr>
          <a:xfrm>
            <a:off x="657871" y="3330733"/>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Nuclear</a:t>
            </a:r>
          </a:p>
        </p:txBody>
      </p:sp>
      <p:sp>
        <p:nvSpPr>
          <p:cNvPr id="38" name="Rectangle: Rounded Corners 37">
            <a:extLst>
              <a:ext uri="{FF2B5EF4-FFF2-40B4-BE49-F238E27FC236}">
                <a16:creationId xmlns:a16="http://schemas.microsoft.com/office/drawing/2014/main" id="{42E628E6-3EE2-7466-5167-0621ECB0C30C}"/>
              </a:ext>
            </a:extLst>
          </p:cNvPr>
          <p:cNvSpPr/>
          <p:nvPr/>
        </p:nvSpPr>
        <p:spPr>
          <a:xfrm>
            <a:off x="657871" y="3901716"/>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Gas</a:t>
            </a:r>
          </a:p>
        </p:txBody>
      </p:sp>
      <p:sp>
        <p:nvSpPr>
          <p:cNvPr id="40" name="Text Placeholder 17">
            <a:extLst>
              <a:ext uri="{FF2B5EF4-FFF2-40B4-BE49-F238E27FC236}">
                <a16:creationId xmlns:a16="http://schemas.microsoft.com/office/drawing/2014/main" id="{67420A42-8FE7-89D5-4448-364936799395}"/>
              </a:ext>
            </a:extLst>
          </p:cNvPr>
          <p:cNvSpPr txBox="1">
            <a:spLocks/>
          </p:cNvSpPr>
          <p:nvPr/>
        </p:nvSpPr>
        <p:spPr>
          <a:xfrm>
            <a:off x="2345759" y="1449643"/>
            <a:ext cx="1512375" cy="528201"/>
          </a:xfrm>
          <a:prstGeom prst="rect">
            <a:avLst/>
          </a:prstGeom>
        </p:spPr>
        <p:txBody>
          <a:bodyPr vert="horz" lIns="91440" tIns="45720" rIns="91440" bIns="45720" rtlCol="0" anchor="b">
            <a:noAutofit/>
          </a:bodyPr>
          <a:lstStyle>
            <a:lvl1pPr marL="0" indent="0" algn="ctr" defTabSz="914400" rtl="0" eaLnBrk="1" latinLnBrk="0" hangingPunct="1">
              <a:lnSpc>
                <a:spcPct val="100000"/>
              </a:lnSpc>
              <a:spcBef>
                <a:spcPts val="0"/>
              </a:spcBef>
              <a:buFont typeface="Arial" panose="020B0604020202020204" pitchFamily="34" charset="0"/>
              <a:buNone/>
              <a:defRPr sz="1400" kern="1200" cap="all" baseline="0">
                <a:solidFill>
                  <a:schemeClr val="tx1"/>
                </a:solidFill>
                <a:latin typeface="Gill Sans Nova" panose="020B06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 </a:t>
            </a:r>
            <a:r>
              <a:rPr lang="en-US" dirty="0"/>
              <a:t>Build </a:t>
            </a:r>
            <a:r>
              <a:rPr lang="en-US" dirty="0" err="1"/>
              <a:t>RatE</a:t>
            </a:r>
            <a:endParaRPr lang="en-US" dirty="0"/>
          </a:p>
        </p:txBody>
      </p:sp>
      <p:sp>
        <p:nvSpPr>
          <p:cNvPr id="41" name="Oval 40">
            <a:extLst>
              <a:ext uri="{FF2B5EF4-FFF2-40B4-BE49-F238E27FC236}">
                <a16:creationId xmlns:a16="http://schemas.microsoft.com/office/drawing/2014/main" id="{AEEF9BB4-2333-7CB0-C505-9CBB18E65348}"/>
              </a:ext>
            </a:extLst>
          </p:cNvPr>
          <p:cNvSpPr/>
          <p:nvPr/>
        </p:nvSpPr>
        <p:spPr>
          <a:xfrm>
            <a:off x="2858327" y="2212153"/>
            <a:ext cx="537883" cy="53788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X</a:t>
            </a:r>
          </a:p>
        </p:txBody>
      </p:sp>
      <p:sp>
        <p:nvSpPr>
          <p:cNvPr id="42" name="Text Placeholder 17">
            <a:extLst>
              <a:ext uri="{FF2B5EF4-FFF2-40B4-BE49-F238E27FC236}">
                <a16:creationId xmlns:a16="http://schemas.microsoft.com/office/drawing/2014/main" id="{67ACD9A5-1228-BAF7-6A69-138571B86BCF}"/>
              </a:ext>
            </a:extLst>
          </p:cNvPr>
          <p:cNvSpPr txBox="1">
            <a:spLocks/>
          </p:cNvSpPr>
          <p:nvPr/>
        </p:nvSpPr>
        <p:spPr>
          <a:xfrm>
            <a:off x="727568" y="5433689"/>
            <a:ext cx="892036" cy="310896"/>
          </a:xfrm>
          <a:prstGeom prst="rect">
            <a:avLst/>
          </a:prstGeom>
        </p:spPr>
        <p:txBody>
          <a:bodyPr vert="horz" lIns="91440" tIns="45720" rIns="91440" bIns="45720" rtlCol="0" anchor="b">
            <a:noAutofit/>
          </a:bodyPr>
          <a:lstStyle>
            <a:lvl1pPr marL="0" indent="0" algn="ctr" defTabSz="914400" rtl="0" eaLnBrk="1" latinLnBrk="0" hangingPunct="1">
              <a:lnSpc>
                <a:spcPct val="100000"/>
              </a:lnSpc>
              <a:spcBef>
                <a:spcPts val="0"/>
              </a:spcBef>
              <a:buFont typeface="Arial" panose="020B0604020202020204" pitchFamily="34" charset="0"/>
              <a:buNone/>
              <a:defRPr sz="1400" kern="1200" cap="all" baseline="0">
                <a:solidFill>
                  <a:schemeClr val="tx1"/>
                </a:solidFill>
                <a:latin typeface="Gill Sans Nova" panose="020B06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3" name="Rectangle: Rounded Corners 42">
            <a:extLst>
              <a:ext uri="{FF2B5EF4-FFF2-40B4-BE49-F238E27FC236}">
                <a16:creationId xmlns:a16="http://schemas.microsoft.com/office/drawing/2014/main" id="{C0B6C1AA-532F-0F77-AF43-7DD748688DA2}"/>
              </a:ext>
            </a:extLst>
          </p:cNvPr>
          <p:cNvSpPr/>
          <p:nvPr/>
        </p:nvSpPr>
        <p:spPr>
          <a:xfrm>
            <a:off x="634579" y="5902540"/>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Hourly Demand</a:t>
            </a:r>
          </a:p>
        </p:txBody>
      </p:sp>
      <p:sp>
        <p:nvSpPr>
          <p:cNvPr id="44" name="Text Placeholder 17">
            <a:extLst>
              <a:ext uri="{FF2B5EF4-FFF2-40B4-BE49-F238E27FC236}">
                <a16:creationId xmlns:a16="http://schemas.microsoft.com/office/drawing/2014/main" id="{F78E9E46-139A-7109-69C2-557BE9A95476}"/>
              </a:ext>
            </a:extLst>
          </p:cNvPr>
          <p:cNvSpPr txBox="1">
            <a:spLocks/>
          </p:cNvSpPr>
          <p:nvPr/>
        </p:nvSpPr>
        <p:spPr>
          <a:xfrm>
            <a:off x="1890625" y="5376651"/>
            <a:ext cx="1257818" cy="552323"/>
          </a:xfrm>
          <a:prstGeom prst="rect">
            <a:avLst/>
          </a:prstGeom>
        </p:spPr>
        <p:txBody>
          <a:bodyPr vert="horz" lIns="91440" tIns="45720" rIns="91440" bIns="45720" rtlCol="0" anchor="b">
            <a:noAutofit/>
          </a:bodyPr>
          <a:lstStyle>
            <a:lvl1pPr marL="0" indent="0" algn="ctr" defTabSz="914400" rtl="0" eaLnBrk="1" latinLnBrk="0" hangingPunct="1">
              <a:lnSpc>
                <a:spcPct val="100000"/>
              </a:lnSpc>
              <a:spcBef>
                <a:spcPts val="0"/>
              </a:spcBef>
              <a:buFont typeface="Arial" panose="020B0604020202020204" pitchFamily="34" charset="0"/>
              <a:buNone/>
              <a:defRPr sz="1400" kern="1200" cap="all" baseline="0">
                <a:solidFill>
                  <a:schemeClr val="tx1"/>
                </a:solidFill>
                <a:latin typeface="Gill Sans Nova" panose="020B06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Demand Multiplier</a:t>
            </a:r>
          </a:p>
        </p:txBody>
      </p:sp>
      <p:sp>
        <p:nvSpPr>
          <p:cNvPr id="45" name="Oval 44">
            <a:extLst>
              <a:ext uri="{FF2B5EF4-FFF2-40B4-BE49-F238E27FC236}">
                <a16:creationId xmlns:a16="http://schemas.microsoft.com/office/drawing/2014/main" id="{30BB9957-01F2-2C02-1E57-0A47EE9F8CDB}"/>
              </a:ext>
            </a:extLst>
          </p:cNvPr>
          <p:cNvSpPr/>
          <p:nvPr/>
        </p:nvSpPr>
        <p:spPr>
          <a:xfrm>
            <a:off x="2858327" y="2812906"/>
            <a:ext cx="537883" cy="53788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X</a:t>
            </a:r>
          </a:p>
        </p:txBody>
      </p:sp>
      <p:sp>
        <p:nvSpPr>
          <p:cNvPr id="46" name="Oval 45">
            <a:extLst>
              <a:ext uri="{FF2B5EF4-FFF2-40B4-BE49-F238E27FC236}">
                <a16:creationId xmlns:a16="http://schemas.microsoft.com/office/drawing/2014/main" id="{13A31ACF-78F6-BA91-730D-AD237A57F52E}"/>
              </a:ext>
            </a:extLst>
          </p:cNvPr>
          <p:cNvSpPr/>
          <p:nvPr/>
        </p:nvSpPr>
        <p:spPr>
          <a:xfrm>
            <a:off x="2858327" y="3403945"/>
            <a:ext cx="537883" cy="53788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X</a:t>
            </a:r>
          </a:p>
        </p:txBody>
      </p:sp>
      <p:sp>
        <p:nvSpPr>
          <p:cNvPr id="47" name="Oval 46">
            <a:extLst>
              <a:ext uri="{FF2B5EF4-FFF2-40B4-BE49-F238E27FC236}">
                <a16:creationId xmlns:a16="http://schemas.microsoft.com/office/drawing/2014/main" id="{0F63557A-DF5A-F850-AA85-D8A00D942E8B}"/>
              </a:ext>
            </a:extLst>
          </p:cNvPr>
          <p:cNvSpPr/>
          <p:nvPr/>
        </p:nvSpPr>
        <p:spPr>
          <a:xfrm>
            <a:off x="2858327" y="3994984"/>
            <a:ext cx="537883" cy="53788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X</a:t>
            </a:r>
          </a:p>
        </p:txBody>
      </p:sp>
      <p:sp>
        <p:nvSpPr>
          <p:cNvPr id="48" name="Oval 47">
            <a:extLst>
              <a:ext uri="{FF2B5EF4-FFF2-40B4-BE49-F238E27FC236}">
                <a16:creationId xmlns:a16="http://schemas.microsoft.com/office/drawing/2014/main" id="{C63D3AEB-0094-0871-1077-8524E181DDF4}"/>
              </a:ext>
            </a:extLst>
          </p:cNvPr>
          <p:cNvSpPr/>
          <p:nvPr/>
        </p:nvSpPr>
        <p:spPr>
          <a:xfrm>
            <a:off x="2168281" y="5922279"/>
            <a:ext cx="537883" cy="537883"/>
          </a:xfrm>
          <a:prstGeom prst="ellipse">
            <a:avLst/>
          </a:prstGeom>
          <a:solidFill>
            <a:srgbClr val="A09D79"/>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X</a:t>
            </a:r>
          </a:p>
        </p:txBody>
      </p:sp>
      <p:sp>
        <p:nvSpPr>
          <p:cNvPr id="49" name="Text Placeholder 17">
            <a:extLst>
              <a:ext uri="{FF2B5EF4-FFF2-40B4-BE49-F238E27FC236}">
                <a16:creationId xmlns:a16="http://schemas.microsoft.com/office/drawing/2014/main" id="{8ECAD673-66B1-0EDC-FB66-84C4080D57DF}"/>
              </a:ext>
            </a:extLst>
          </p:cNvPr>
          <p:cNvSpPr txBox="1">
            <a:spLocks/>
          </p:cNvSpPr>
          <p:nvPr/>
        </p:nvSpPr>
        <p:spPr>
          <a:xfrm>
            <a:off x="4233719" y="1590518"/>
            <a:ext cx="1358891" cy="510411"/>
          </a:xfrm>
          <a:prstGeom prst="rect">
            <a:avLst/>
          </a:prstGeom>
        </p:spPr>
        <p:txBody>
          <a:bodyPr vert="horz" lIns="91440" tIns="45720" rIns="91440" bIns="45720" rtlCol="0" anchor="b">
            <a:noAutofit/>
          </a:bodyPr>
          <a:lstStyle>
            <a:lvl1pPr marL="0" indent="0" algn="ctr" defTabSz="914400" rtl="0" eaLnBrk="1" latinLnBrk="0" hangingPunct="1">
              <a:lnSpc>
                <a:spcPct val="100000"/>
              </a:lnSpc>
              <a:spcBef>
                <a:spcPts val="0"/>
              </a:spcBef>
              <a:buFont typeface="Arial" panose="020B0604020202020204" pitchFamily="34" charset="0"/>
              <a:buNone/>
              <a:defRPr sz="1400" kern="1200" cap="all" baseline="0">
                <a:solidFill>
                  <a:schemeClr val="tx1"/>
                </a:solidFill>
                <a:latin typeface="Gill Sans Nova" panose="020B06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Cheapest Supply</a:t>
            </a:r>
          </a:p>
        </p:txBody>
      </p:sp>
      <p:sp>
        <p:nvSpPr>
          <p:cNvPr id="50" name="Rectangle: Rounded Corners 49">
            <a:extLst>
              <a:ext uri="{FF2B5EF4-FFF2-40B4-BE49-F238E27FC236}">
                <a16:creationId xmlns:a16="http://schemas.microsoft.com/office/drawing/2014/main" id="{804613B0-C656-11A1-8382-01606EC0CA07}"/>
              </a:ext>
            </a:extLst>
          </p:cNvPr>
          <p:cNvSpPr/>
          <p:nvPr/>
        </p:nvSpPr>
        <p:spPr>
          <a:xfrm>
            <a:off x="4284256" y="2212153"/>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Solar Hourly</a:t>
            </a:r>
          </a:p>
        </p:txBody>
      </p:sp>
      <p:sp>
        <p:nvSpPr>
          <p:cNvPr id="51" name="Rectangle: Rounded Corners 50">
            <a:extLst>
              <a:ext uri="{FF2B5EF4-FFF2-40B4-BE49-F238E27FC236}">
                <a16:creationId xmlns:a16="http://schemas.microsoft.com/office/drawing/2014/main" id="{32A422A4-C224-4067-6D24-14BDF0E706B6}"/>
              </a:ext>
            </a:extLst>
          </p:cNvPr>
          <p:cNvSpPr/>
          <p:nvPr/>
        </p:nvSpPr>
        <p:spPr>
          <a:xfrm>
            <a:off x="4284256" y="2783136"/>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Wind Hourly</a:t>
            </a:r>
          </a:p>
        </p:txBody>
      </p:sp>
      <p:sp>
        <p:nvSpPr>
          <p:cNvPr id="52" name="Rectangle: Rounded Corners 51">
            <a:extLst>
              <a:ext uri="{FF2B5EF4-FFF2-40B4-BE49-F238E27FC236}">
                <a16:creationId xmlns:a16="http://schemas.microsoft.com/office/drawing/2014/main" id="{57DB78B6-7BB8-0679-8C04-EA05873EBCE7}"/>
              </a:ext>
            </a:extLst>
          </p:cNvPr>
          <p:cNvSpPr/>
          <p:nvPr/>
        </p:nvSpPr>
        <p:spPr>
          <a:xfrm>
            <a:off x="4284256" y="3354119"/>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Nuclear Hourly</a:t>
            </a:r>
          </a:p>
        </p:txBody>
      </p:sp>
      <p:sp>
        <p:nvSpPr>
          <p:cNvPr id="53" name="Rectangle: Rounded Corners 52">
            <a:extLst>
              <a:ext uri="{FF2B5EF4-FFF2-40B4-BE49-F238E27FC236}">
                <a16:creationId xmlns:a16="http://schemas.microsoft.com/office/drawing/2014/main" id="{D068F743-EE64-FD16-84A7-27B938D789FD}"/>
              </a:ext>
            </a:extLst>
          </p:cNvPr>
          <p:cNvSpPr/>
          <p:nvPr/>
        </p:nvSpPr>
        <p:spPr>
          <a:xfrm>
            <a:off x="4284256" y="3925102"/>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Gas</a:t>
            </a:r>
          </a:p>
          <a:p>
            <a:pPr algn="ctr"/>
            <a:r>
              <a:rPr lang="en-US" dirty="0"/>
              <a:t> Hourly</a:t>
            </a:r>
          </a:p>
        </p:txBody>
      </p:sp>
      <p:sp>
        <p:nvSpPr>
          <p:cNvPr id="54" name="Text Placeholder 17">
            <a:extLst>
              <a:ext uri="{FF2B5EF4-FFF2-40B4-BE49-F238E27FC236}">
                <a16:creationId xmlns:a16="http://schemas.microsoft.com/office/drawing/2014/main" id="{4B7A15DF-46F9-7E85-CB32-1371C3EA3193}"/>
              </a:ext>
            </a:extLst>
          </p:cNvPr>
          <p:cNvSpPr txBox="1">
            <a:spLocks/>
          </p:cNvSpPr>
          <p:nvPr/>
        </p:nvSpPr>
        <p:spPr>
          <a:xfrm>
            <a:off x="3115472" y="5603946"/>
            <a:ext cx="892036" cy="310896"/>
          </a:xfrm>
          <a:prstGeom prst="rect">
            <a:avLst/>
          </a:prstGeom>
        </p:spPr>
        <p:txBody>
          <a:bodyPr vert="horz" lIns="91440" tIns="45720" rIns="91440" bIns="45720" rtlCol="0" anchor="b">
            <a:noAutofit/>
          </a:bodyPr>
          <a:lstStyle>
            <a:lvl1pPr marL="0" indent="0" algn="ctr" defTabSz="914400" rtl="0" eaLnBrk="1" latinLnBrk="0" hangingPunct="1">
              <a:lnSpc>
                <a:spcPct val="100000"/>
              </a:lnSpc>
              <a:spcBef>
                <a:spcPts val="0"/>
              </a:spcBef>
              <a:buFont typeface="Arial" panose="020B0604020202020204" pitchFamily="34" charset="0"/>
              <a:buNone/>
              <a:defRPr sz="1400" kern="1200" cap="all" baseline="0">
                <a:solidFill>
                  <a:schemeClr val="tx1"/>
                </a:solidFill>
                <a:latin typeface="Gill Sans Nova" panose="020B06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Year</a:t>
            </a:r>
          </a:p>
        </p:txBody>
      </p:sp>
      <p:sp>
        <p:nvSpPr>
          <p:cNvPr id="55" name="Rectangle: Rounded Corners 54">
            <a:extLst>
              <a:ext uri="{FF2B5EF4-FFF2-40B4-BE49-F238E27FC236}">
                <a16:creationId xmlns:a16="http://schemas.microsoft.com/office/drawing/2014/main" id="{F11768B7-2EAA-F702-2C1C-3EADEE4C3FC3}"/>
              </a:ext>
            </a:extLst>
          </p:cNvPr>
          <p:cNvSpPr/>
          <p:nvPr/>
        </p:nvSpPr>
        <p:spPr>
          <a:xfrm>
            <a:off x="2972000" y="5903577"/>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Hourly Demand</a:t>
            </a:r>
          </a:p>
        </p:txBody>
      </p:sp>
      <p:sp>
        <p:nvSpPr>
          <p:cNvPr id="56" name="Oval 55">
            <a:extLst>
              <a:ext uri="{FF2B5EF4-FFF2-40B4-BE49-F238E27FC236}">
                <a16:creationId xmlns:a16="http://schemas.microsoft.com/office/drawing/2014/main" id="{6F93125B-F455-9D2E-8F4A-1608165E6F12}"/>
              </a:ext>
            </a:extLst>
          </p:cNvPr>
          <p:cNvSpPr/>
          <p:nvPr/>
        </p:nvSpPr>
        <p:spPr>
          <a:xfrm>
            <a:off x="6139011" y="2855661"/>
            <a:ext cx="1136449" cy="4951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Cost</a:t>
            </a:r>
          </a:p>
        </p:txBody>
      </p:sp>
      <p:sp>
        <p:nvSpPr>
          <p:cNvPr id="57" name="Oval 56">
            <a:extLst>
              <a:ext uri="{FF2B5EF4-FFF2-40B4-BE49-F238E27FC236}">
                <a16:creationId xmlns:a16="http://schemas.microsoft.com/office/drawing/2014/main" id="{99AFEC00-B220-CDD0-4BC4-54629C63A867}"/>
              </a:ext>
            </a:extLst>
          </p:cNvPr>
          <p:cNvSpPr/>
          <p:nvPr/>
        </p:nvSpPr>
        <p:spPr>
          <a:xfrm>
            <a:off x="6139011" y="2243244"/>
            <a:ext cx="1136449" cy="4951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Cost</a:t>
            </a:r>
          </a:p>
        </p:txBody>
      </p:sp>
      <p:sp>
        <p:nvSpPr>
          <p:cNvPr id="58" name="Oval 57">
            <a:extLst>
              <a:ext uri="{FF2B5EF4-FFF2-40B4-BE49-F238E27FC236}">
                <a16:creationId xmlns:a16="http://schemas.microsoft.com/office/drawing/2014/main" id="{87304710-72F5-0078-BABC-D07E671F55C6}"/>
              </a:ext>
            </a:extLst>
          </p:cNvPr>
          <p:cNvSpPr/>
          <p:nvPr/>
        </p:nvSpPr>
        <p:spPr>
          <a:xfrm>
            <a:off x="6139011" y="3446700"/>
            <a:ext cx="1136449" cy="4951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Cost</a:t>
            </a:r>
          </a:p>
        </p:txBody>
      </p:sp>
      <p:sp>
        <p:nvSpPr>
          <p:cNvPr id="59" name="Oval 58">
            <a:extLst>
              <a:ext uri="{FF2B5EF4-FFF2-40B4-BE49-F238E27FC236}">
                <a16:creationId xmlns:a16="http://schemas.microsoft.com/office/drawing/2014/main" id="{0A508C89-2E00-5655-C494-D651E25F46A3}"/>
              </a:ext>
            </a:extLst>
          </p:cNvPr>
          <p:cNvSpPr/>
          <p:nvPr/>
        </p:nvSpPr>
        <p:spPr>
          <a:xfrm>
            <a:off x="6107310" y="6009393"/>
            <a:ext cx="1307592" cy="49512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Outage</a:t>
            </a:r>
          </a:p>
        </p:txBody>
      </p:sp>
      <p:sp>
        <p:nvSpPr>
          <p:cNvPr id="60" name="Oval 59">
            <a:extLst>
              <a:ext uri="{FF2B5EF4-FFF2-40B4-BE49-F238E27FC236}">
                <a16:creationId xmlns:a16="http://schemas.microsoft.com/office/drawing/2014/main" id="{66092B75-DDBA-2F4C-7996-81151E61A827}"/>
              </a:ext>
            </a:extLst>
          </p:cNvPr>
          <p:cNvSpPr/>
          <p:nvPr/>
        </p:nvSpPr>
        <p:spPr>
          <a:xfrm>
            <a:off x="6127665" y="4012791"/>
            <a:ext cx="1136449" cy="4951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Cost</a:t>
            </a:r>
          </a:p>
        </p:txBody>
      </p:sp>
      <p:sp>
        <p:nvSpPr>
          <p:cNvPr id="61" name="Rectangle: Rounded Corners 60">
            <a:extLst>
              <a:ext uri="{FF2B5EF4-FFF2-40B4-BE49-F238E27FC236}">
                <a16:creationId xmlns:a16="http://schemas.microsoft.com/office/drawing/2014/main" id="{92CB717F-7160-05D1-0A44-3B7B2A040B9B}"/>
              </a:ext>
            </a:extLst>
          </p:cNvPr>
          <p:cNvSpPr/>
          <p:nvPr/>
        </p:nvSpPr>
        <p:spPr>
          <a:xfrm>
            <a:off x="7643262" y="2183388"/>
            <a:ext cx="1257818" cy="440578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Figure Next</a:t>
            </a:r>
          </a:p>
          <a:p>
            <a:pPr algn="ctr"/>
            <a:r>
              <a:rPr lang="en-US" dirty="0"/>
              <a:t>Test</a:t>
            </a:r>
          </a:p>
        </p:txBody>
      </p:sp>
      <p:sp>
        <p:nvSpPr>
          <p:cNvPr id="62" name="Text Placeholder 17">
            <a:extLst>
              <a:ext uri="{FF2B5EF4-FFF2-40B4-BE49-F238E27FC236}">
                <a16:creationId xmlns:a16="http://schemas.microsoft.com/office/drawing/2014/main" id="{EE760BE6-1931-DA35-3728-091BCDA4C736}"/>
              </a:ext>
            </a:extLst>
          </p:cNvPr>
          <p:cNvSpPr txBox="1">
            <a:spLocks/>
          </p:cNvSpPr>
          <p:nvPr/>
        </p:nvSpPr>
        <p:spPr>
          <a:xfrm>
            <a:off x="6050986" y="1636922"/>
            <a:ext cx="1358891" cy="510411"/>
          </a:xfrm>
          <a:prstGeom prst="rect">
            <a:avLst/>
          </a:prstGeom>
        </p:spPr>
        <p:txBody>
          <a:bodyPr vert="horz" lIns="91440" tIns="45720" rIns="91440" bIns="45720" rtlCol="0" anchor="b">
            <a:noAutofit/>
          </a:bodyPr>
          <a:lstStyle>
            <a:lvl1pPr marL="0" indent="0" algn="ctr" defTabSz="914400" rtl="0" eaLnBrk="1" latinLnBrk="0" hangingPunct="1">
              <a:lnSpc>
                <a:spcPct val="100000"/>
              </a:lnSpc>
              <a:spcBef>
                <a:spcPts val="0"/>
              </a:spcBef>
              <a:buFont typeface="Arial" panose="020B0604020202020204" pitchFamily="34" charset="0"/>
              <a:buNone/>
              <a:defRPr sz="1400" kern="1200" cap="all" baseline="0">
                <a:solidFill>
                  <a:schemeClr val="tx1"/>
                </a:solidFill>
                <a:latin typeface="Gill Sans Nova" panose="020B06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Figure total cost</a:t>
            </a:r>
          </a:p>
        </p:txBody>
      </p:sp>
      <p:sp>
        <p:nvSpPr>
          <p:cNvPr id="2" name="Freeform: Shape 1">
            <a:extLst>
              <a:ext uri="{FF2B5EF4-FFF2-40B4-BE49-F238E27FC236}">
                <a16:creationId xmlns:a16="http://schemas.microsoft.com/office/drawing/2014/main" id="{1518E85A-5850-1B56-A067-B4130844EED4}"/>
              </a:ext>
            </a:extLst>
          </p:cNvPr>
          <p:cNvSpPr/>
          <p:nvPr/>
        </p:nvSpPr>
        <p:spPr>
          <a:xfrm>
            <a:off x="3177657" y="1440804"/>
            <a:ext cx="6362272" cy="2183517"/>
          </a:xfrm>
          <a:custGeom>
            <a:avLst/>
            <a:gdLst>
              <a:gd name="connsiteX0" fmla="*/ 6150883 w 7200343"/>
              <a:gd name="connsiteY0" fmla="*/ 2120808 h 2314306"/>
              <a:gd name="connsiteX1" fmla="*/ 7188500 w 7200343"/>
              <a:gd name="connsiteY1" fmla="*/ 2133778 h 2314306"/>
              <a:gd name="connsiteX2" fmla="*/ 5541283 w 7200343"/>
              <a:gd name="connsiteY2" fmla="*/ 214187 h 2314306"/>
              <a:gd name="connsiteX3" fmla="*/ 411564 w 7200343"/>
              <a:gd name="connsiteY3" fmla="*/ 90970 h 2314306"/>
              <a:gd name="connsiteX4" fmla="*/ 346713 w 7200343"/>
              <a:gd name="connsiteY4" fmla="*/ 609778 h 2314306"/>
              <a:gd name="connsiteX5" fmla="*/ 638543 w 7200343"/>
              <a:gd name="connsiteY5" fmla="*/ 603293 h 2314306"/>
              <a:gd name="connsiteX0" fmla="*/ 6150883 w 7203017"/>
              <a:gd name="connsiteY0" fmla="*/ 2048949 h 2061919"/>
              <a:gd name="connsiteX1" fmla="*/ 7191222 w 7203017"/>
              <a:gd name="connsiteY1" fmla="*/ 431783 h 2061919"/>
              <a:gd name="connsiteX2" fmla="*/ 5541283 w 7203017"/>
              <a:gd name="connsiteY2" fmla="*/ 142328 h 2061919"/>
              <a:gd name="connsiteX3" fmla="*/ 411564 w 7203017"/>
              <a:gd name="connsiteY3" fmla="*/ 19111 h 2061919"/>
              <a:gd name="connsiteX4" fmla="*/ 346713 w 7203017"/>
              <a:gd name="connsiteY4" fmla="*/ 537919 h 2061919"/>
              <a:gd name="connsiteX5" fmla="*/ 638543 w 7203017"/>
              <a:gd name="connsiteY5" fmla="*/ 531434 h 2061919"/>
              <a:gd name="connsiteX0" fmla="*/ 6150883 w 7203017"/>
              <a:gd name="connsiteY0" fmla="*/ 2048949 h 2061919"/>
              <a:gd name="connsiteX1" fmla="*/ 7191222 w 7203017"/>
              <a:gd name="connsiteY1" fmla="*/ 431783 h 2061919"/>
              <a:gd name="connsiteX2" fmla="*/ 5541283 w 7203017"/>
              <a:gd name="connsiteY2" fmla="*/ 142328 h 2061919"/>
              <a:gd name="connsiteX3" fmla="*/ 411564 w 7203017"/>
              <a:gd name="connsiteY3" fmla="*/ 19111 h 2061919"/>
              <a:gd name="connsiteX4" fmla="*/ 346713 w 7203017"/>
              <a:gd name="connsiteY4" fmla="*/ 537919 h 2061919"/>
              <a:gd name="connsiteX0" fmla="*/ 6130500 w 7182634"/>
              <a:gd name="connsiteY0" fmla="*/ 2067078 h 2080048"/>
              <a:gd name="connsiteX1" fmla="*/ 7170839 w 7182634"/>
              <a:gd name="connsiteY1" fmla="*/ 449912 h 2080048"/>
              <a:gd name="connsiteX2" fmla="*/ 5520900 w 7182634"/>
              <a:gd name="connsiteY2" fmla="*/ 160457 h 2080048"/>
              <a:gd name="connsiteX3" fmla="*/ 391181 w 7182634"/>
              <a:gd name="connsiteY3" fmla="*/ 37240 h 2080048"/>
              <a:gd name="connsiteX4" fmla="*/ 383480 w 7182634"/>
              <a:gd name="connsiteY4" fmla="*/ 825470 h 2080048"/>
              <a:gd name="connsiteX0" fmla="*/ 6123051 w 7175185"/>
              <a:gd name="connsiteY0" fmla="*/ 2056486 h 2069456"/>
              <a:gd name="connsiteX1" fmla="*/ 7163390 w 7175185"/>
              <a:gd name="connsiteY1" fmla="*/ 439320 h 2069456"/>
              <a:gd name="connsiteX2" fmla="*/ 5513451 w 7175185"/>
              <a:gd name="connsiteY2" fmla="*/ 149865 h 2069456"/>
              <a:gd name="connsiteX3" fmla="*/ 383732 w 7175185"/>
              <a:gd name="connsiteY3" fmla="*/ 26648 h 2069456"/>
              <a:gd name="connsiteX4" fmla="*/ 397802 w 7175185"/>
              <a:gd name="connsiteY4" fmla="*/ 659757 h 2069456"/>
              <a:gd name="connsiteX0" fmla="*/ 5728249 w 6780383"/>
              <a:gd name="connsiteY0" fmla="*/ 2083566 h 2096536"/>
              <a:gd name="connsiteX1" fmla="*/ 6768588 w 6780383"/>
              <a:gd name="connsiteY1" fmla="*/ 466400 h 2096536"/>
              <a:gd name="connsiteX2" fmla="*/ 5118649 w 6780383"/>
              <a:gd name="connsiteY2" fmla="*/ 176945 h 2096536"/>
              <a:gd name="connsiteX3" fmla="*/ 1134652 w 6780383"/>
              <a:gd name="connsiteY3" fmla="*/ 23792 h 2096536"/>
              <a:gd name="connsiteX4" fmla="*/ 3000 w 6780383"/>
              <a:gd name="connsiteY4" fmla="*/ 686837 h 2096536"/>
              <a:gd name="connsiteX0" fmla="*/ 5728245 w 6780470"/>
              <a:gd name="connsiteY0" fmla="*/ 2102568 h 2115651"/>
              <a:gd name="connsiteX1" fmla="*/ 6768584 w 6780470"/>
              <a:gd name="connsiteY1" fmla="*/ 485402 h 2115651"/>
              <a:gd name="connsiteX2" fmla="*/ 5115923 w 6780470"/>
              <a:gd name="connsiteY2" fmla="*/ 111583 h 2115651"/>
              <a:gd name="connsiteX3" fmla="*/ 1134648 w 6780470"/>
              <a:gd name="connsiteY3" fmla="*/ 42794 h 2115651"/>
              <a:gd name="connsiteX4" fmla="*/ 2996 w 6780470"/>
              <a:gd name="connsiteY4" fmla="*/ 705839 h 2115651"/>
              <a:gd name="connsiteX0" fmla="*/ 5728245 w 6364121"/>
              <a:gd name="connsiteY0" fmla="*/ 2122141 h 2140743"/>
              <a:gd name="connsiteX1" fmla="*/ 6333156 w 6364121"/>
              <a:gd name="connsiteY1" fmla="*/ 973061 h 2140743"/>
              <a:gd name="connsiteX2" fmla="*/ 5115923 w 6364121"/>
              <a:gd name="connsiteY2" fmla="*/ 131156 h 2140743"/>
              <a:gd name="connsiteX3" fmla="*/ 1134648 w 6364121"/>
              <a:gd name="connsiteY3" fmla="*/ 62367 h 2140743"/>
              <a:gd name="connsiteX4" fmla="*/ 2996 w 6364121"/>
              <a:gd name="connsiteY4" fmla="*/ 725412 h 2140743"/>
              <a:gd name="connsiteX0" fmla="*/ 5826786 w 6462662"/>
              <a:gd name="connsiteY0" fmla="*/ 2181642 h 2200244"/>
              <a:gd name="connsiteX1" fmla="*/ 6431697 w 6462662"/>
              <a:gd name="connsiteY1" fmla="*/ 1032562 h 2200244"/>
              <a:gd name="connsiteX2" fmla="*/ 5214464 w 6462662"/>
              <a:gd name="connsiteY2" fmla="*/ 190657 h 2200244"/>
              <a:gd name="connsiteX3" fmla="*/ 569161 w 6462662"/>
              <a:gd name="connsiteY3" fmla="*/ 42947 h 2200244"/>
              <a:gd name="connsiteX4" fmla="*/ 101537 w 6462662"/>
              <a:gd name="connsiteY4" fmla="*/ 784913 h 2200244"/>
              <a:gd name="connsiteX0" fmla="*/ 5739291 w 6375167"/>
              <a:gd name="connsiteY0" fmla="*/ 2164915 h 2183517"/>
              <a:gd name="connsiteX1" fmla="*/ 6344202 w 6375167"/>
              <a:gd name="connsiteY1" fmla="*/ 1015835 h 2183517"/>
              <a:gd name="connsiteX2" fmla="*/ 5126969 w 6375167"/>
              <a:gd name="connsiteY2" fmla="*/ 173930 h 2183517"/>
              <a:gd name="connsiteX3" fmla="*/ 481666 w 6375167"/>
              <a:gd name="connsiteY3" fmla="*/ 26220 h 2183517"/>
              <a:gd name="connsiteX4" fmla="*/ 14042 w 6375167"/>
              <a:gd name="connsiteY4" fmla="*/ 768186 h 2183517"/>
              <a:gd name="connsiteX0" fmla="*/ 5733420 w 6369296"/>
              <a:gd name="connsiteY0" fmla="*/ 2164915 h 2183517"/>
              <a:gd name="connsiteX1" fmla="*/ 6338331 w 6369296"/>
              <a:gd name="connsiteY1" fmla="*/ 1015835 h 2183517"/>
              <a:gd name="connsiteX2" fmla="*/ 5121098 w 6369296"/>
              <a:gd name="connsiteY2" fmla="*/ 173930 h 2183517"/>
              <a:gd name="connsiteX3" fmla="*/ 475795 w 6369296"/>
              <a:gd name="connsiteY3" fmla="*/ 26220 h 2183517"/>
              <a:gd name="connsiteX4" fmla="*/ 8171 w 6369296"/>
              <a:gd name="connsiteY4" fmla="*/ 768186 h 2183517"/>
              <a:gd name="connsiteX0" fmla="*/ 5726396 w 6362272"/>
              <a:gd name="connsiteY0" fmla="*/ 2164915 h 2183517"/>
              <a:gd name="connsiteX1" fmla="*/ 6331307 w 6362272"/>
              <a:gd name="connsiteY1" fmla="*/ 1015835 h 2183517"/>
              <a:gd name="connsiteX2" fmla="*/ 5114074 w 6362272"/>
              <a:gd name="connsiteY2" fmla="*/ 173930 h 2183517"/>
              <a:gd name="connsiteX3" fmla="*/ 468771 w 6362272"/>
              <a:gd name="connsiteY3" fmla="*/ 26220 h 2183517"/>
              <a:gd name="connsiteX4" fmla="*/ 1147 w 6362272"/>
              <a:gd name="connsiteY4" fmla="*/ 768186 h 2183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2272" h="2183517">
                <a:moveTo>
                  <a:pt x="5726396" y="2164915"/>
                </a:moveTo>
                <a:cubicBezTo>
                  <a:pt x="6296004" y="2330285"/>
                  <a:pt x="6433361" y="1347666"/>
                  <a:pt x="6331307" y="1015835"/>
                </a:cubicBezTo>
                <a:cubicBezTo>
                  <a:pt x="6229253" y="684004"/>
                  <a:pt x="6091163" y="338866"/>
                  <a:pt x="5114074" y="173930"/>
                </a:cubicBezTo>
                <a:cubicBezTo>
                  <a:pt x="4136985" y="8994"/>
                  <a:pt x="890940" y="-34723"/>
                  <a:pt x="468771" y="26220"/>
                </a:cubicBezTo>
                <a:cubicBezTo>
                  <a:pt x="46602" y="87163"/>
                  <a:pt x="-9468" y="519513"/>
                  <a:pt x="1147" y="768186"/>
                </a:cubicBezTo>
              </a:path>
            </a:pathLst>
          </a:custGeom>
          <a:noFill/>
          <a:ln w="28575">
            <a:solidFill>
              <a:schemeClr val="tx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A43F57B-6DC0-05B7-12FB-22C6BB0EA116}"/>
              </a:ext>
            </a:extLst>
          </p:cNvPr>
          <p:cNvCxnSpPr>
            <a:cxnSpLocks/>
            <a:stCxn id="35" idx="3"/>
          </p:cNvCxnSpPr>
          <p:nvPr/>
        </p:nvCxnSpPr>
        <p:spPr>
          <a:xfrm>
            <a:off x="1915689" y="2471057"/>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41E1553-ED13-13FD-35BF-1A61C1924B23}"/>
              </a:ext>
            </a:extLst>
          </p:cNvPr>
          <p:cNvCxnSpPr>
            <a:cxnSpLocks/>
          </p:cNvCxnSpPr>
          <p:nvPr/>
        </p:nvCxnSpPr>
        <p:spPr>
          <a:xfrm>
            <a:off x="3420135" y="2481095"/>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27FF4B7A-52CE-9B66-066C-6EB90058E719}"/>
              </a:ext>
            </a:extLst>
          </p:cNvPr>
          <p:cNvCxnSpPr>
            <a:cxnSpLocks/>
          </p:cNvCxnSpPr>
          <p:nvPr/>
        </p:nvCxnSpPr>
        <p:spPr>
          <a:xfrm>
            <a:off x="3428064" y="3062480"/>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1A5789C8-9016-7C15-37F3-588B20527B13}"/>
              </a:ext>
            </a:extLst>
          </p:cNvPr>
          <p:cNvCxnSpPr>
            <a:cxnSpLocks/>
          </p:cNvCxnSpPr>
          <p:nvPr/>
        </p:nvCxnSpPr>
        <p:spPr>
          <a:xfrm>
            <a:off x="3417446" y="3657280"/>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3FB541A2-C00B-16FA-C4A0-17409B6BF9BC}"/>
              </a:ext>
            </a:extLst>
          </p:cNvPr>
          <p:cNvCxnSpPr>
            <a:cxnSpLocks/>
          </p:cNvCxnSpPr>
          <p:nvPr/>
        </p:nvCxnSpPr>
        <p:spPr>
          <a:xfrm>
            <a:off x="3406828" y="4252080"/>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 name="Rectangle: Rounded Corners 5">
            <a:extLst>
              <a:ext uri="{FF2B5EF4-FFF2-40B4-BE49-F238E27FC236}">
                <a16:creationId xmlns:a16="http://schemas.microsoft.com/office/drawing/2014/main" id="{3FD53B1C-47AE-4B4A-634D-27621971A9D0}"/>
              </a:ext>
            </a:extLst>
          </p:cNvPr>
          <p:cNvSpPr/>
          <p:nvPr/>
        </p:nvSpPr>
        <p:spPr>
          <a:xfrm>
            <a:off x="657871" y="4497968"/>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Coal</a:t>
            </a:r>
          </a:p>
        </p:txBody>
      </p:sp>
      <p:sp>
        <p:nvSpPr>
          <p:cNvPr id="8" name="Oval 7">
            <a:extLst>
              <a:ext uri="{FF2B5EF4-FFF2-40B4-BE49-F238E27FC236}">
                <a16:creationId xmlns:a16="http://schemas.microsoft.com/office/drawing/2014/main" id="{C4E716DC-9B7A-F6BA-655A-92A6771CE02E}"/>
              </a:ext>
            </a:extLst>
          </p:cNvPr>
          <p:cNvSpPr/>
          <p:nvPr/>
        </p:nvSpPr>
        <p:spPr>
          <a:xfrm>
            <a:off x="2858327" y="4591236"/>
            <a:ext cx="537883" cy="53788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X</a:t>
            </a:r>
          </a:p>
        </p:txBody>
      </p:sp>
      <p:sp>
        <p:nvSpPr>
          <p:cNvPr id="15" name="Rectangle: Rounded Corners 14">
            <a:extLst>
              <a:ext uri="{FF2B5EF4-FFF2-40B4-BE49-F238E27FC236}">
                <a16:creationId xmlns:a16="http://schemas.microsoft.com/office/drawing/2014/main" id="{12599784-1F0A-0847-10F0-04BF8F1C39E9}"/>
              </a:ext>
            </a:extLst>
          </p:cNvPr>
          <p:cNvSpPr/>
          <p:nvPr/>
        </p:nvSpPr>
        <p:spPr>
          <a:xfrm>
            <a:off x="4284256" y="4521354"/>
            <a:ext cx="1257818" cy="57098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Coal</a:t>
            </a:r>
          </a:p>
          <a:p>
            <a:pPr algn="ctr"/>
            <a:r>
              <a:rPr lang="en-US" dirty="0"/>
              <a:t> Hourly</a:t>
            </a:r>
          </a:p>
        </p:txBody>
      </p:sp>
      <p:sp>
        <p:nvSpPr>
          <p:cNvPr id="16" name="Oval 15">
            <a:extLst>
              <a:ext uri="{FF2B5EF4-FFF2-40B4-BE49-F238E27FC236}">
                <a16:creationId xmlns:a16="http://schemas.microsoft.com/office/drawing/2014/main" id="{EA303E11-05A4-BF98-893D-0771853CDFE4}"/>
              </a:ext>
            </a:extLst>
          </p:cNvPr>
          <p:cNvSpPr/>
          <p:nvPr/>
        </p:nvSpPr>
        <p:spPr>
          <a:xfrm>
            <a:off x="6139010" y="4617318"/>
            <a:ext cx="1136449" cy="4951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Cost</a:t>
            </a:r>
          </a:p>
        </p:txBody>
      </p:sp>
      <p:cxnSp>
        <p:nvCxnSpPr>
          <p:cNvPr id="22" name="Straight Arrow Connector 21">
            <a:extLst>
              <a:ext uri="{FF2B5EF4-FFF2-40B4-BE49-F238E27FC236}">
                <a16:creationId xmlns:a16="http://schemas.microsoft.com/office/drawing/2014/main" id="{DB61A72B-26CF-D0C3-2028-9442EB132534}"/>
              </a:ext>
            </a:extLst>
          </p:cNvPr>
          <p:cNvCxnSpPr>
            <a:cxnSpLocks/>
          </p:cNvCxnSpPr>
          <p:nvPr/>
        </p:nvCxnSpPr>
        <p:spPr>
          <a:xfrm>
            <a:off x="3393521" y="4848332"/>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6" name="Straight Arrow Connector 65">
            <a:extLst>
              <a:ext uri="{FF2B5EF4-FFF2-40B4-BE49-F238E27FC236}">
                <a16:creationId xmlns:a16="http://schemas.microsoft.com/office/drawing/2014/main" id="{3128FDE3-497E-DD31-AB26-AE977240218F}"/>
              </a:ext>
            </a:extLst>
          </p:cNvPr>
          <p:cNvCxnSpPr>
            <a:cxnSpLocks/>
          </p:cNvCxnSpPr>
          <p:nvPr/>
        </p:nvCxnSpPr>
        <p:spPr>
          <a:xfrm>
            <a:off x="5239619" y="6238736"/>
            <a:ext cx="888046" cy="165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8" name="Straight Arrow Connector 67">
            <a:extLst>
              <a:ext uri="{FF2B5EF4-FFF2-40B4-BE49-F238E27FC236}">
                <a16:creationId xmlns:a16="http://schemas.microsoft.com/office/drawing/2014/main" id="{F1D39B31-A9F2-5AA9-A20E-2CE724182586}"/>
              </a:ext>
            </a:extLst>
          </p:cNvPr>
          <p:cNvCxnSpPr>
            <a:cxnSpLocks/>
          </p:cNvCxnSpPr>
          <p:nvPr/>
        </p:nvCxnSpPr>
        <p:spPr>
          <a:xfrm>
            <a:off x="2709688" y="6191221"/>
            <a:ext cx="261709" cy="660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1" name="Text Placeholder 17">
            <a:extLst>
              <a:ext uri="{FF2B5EF4-FFF2-40B4-BE49-F238E27FC236}">
                <a16:creationId xmlns:a16="http://schemas.microsoft.com/office/drawing/2014/main" id="{85F5357E-46B0-E44A-2A8A-D911B857B965}"/>
              </a:ext>
            </a:extLst>
          </p:cNvPr>
          <p:cNvSpPr txBox="1">
            <a:spLocks/>
          </p:cNvSpPr>
          <p:nvPr/>
        </p:nvSpPr>
        <p:spPr>
          <a:xfrm>
            <a:off x="634579" y="5351024"/>
            <a:ext cx="1257818" cy="552323"/>
          </a:xfrm>
          <a:prstGeom prst="rect">
            <a:avLst/>
          </a:prstGeom>
        </p:spPr>
        <p:txBody>
          <a:bodyPr vert="horz" lIns="91440" tIns="45720" rIns="91440" bIns="45720" rtlCol="0" anchor="b">
            <a:noAutofit/>
          </a:bodyPr>
          <a:lstStyle>
            <a:lvl1pPr marL="0" indent="0" algn="ctr" defTabSz="914400" rtl="0" eaLnBrk="1" latinLnBrk="0" hangingPunct="1">
              <a:lnSpc>
                <a:spcPct val="100000"/>
              </a:lnSpc>
              <a:spcBef>
                <a:spcPts val="0"/>
              </a:spcBef>
              <a:buFont typeface="Arial" panose="020B0604020202020204" pitchFamily="34" charset="0"/>
              <a:buNone/>
              <a:defRPr sz="1400" kern="1200" cap="all" baseline="0">
                <a:solidFill>
                  <a:schemeClr val="tx1"/>
                </a:solidFill>
                <a:latin typeface="Gill Sans Nova" panose="020B06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Last</a:t>
            </a:r>
          </a:p>
          <a:p>
            <a:r>
              <a:rPr lang="en-US" dirty="0"/>
              <a:t>Year</a:t>
            </a:r>
          </a:p>
        </p:txBody>
      </p:sp>
      <p:sp>
        <p:nvSpPr>
          <p:cNvPr id="74" name="Oval 73">
            <a:extLst>
              <a:ext uri="{FF2B5EF4-FFF2-40B4-BE49-F238E27FC236}">
                <a16:creationId xmlns:a16="http://schemas.microsoft.com/office/drawing/2014/main" id="{B93B79AF-FB89-7C2F-F1FB-BFD7674AF78A}"/>
              </a:ext>
            </a:extLst>
          </p:cNvPr>
          <p:cNvSpPr/>
          <p:nvPr/>
        </p:nvSpPr>
        <p:spPr>
          <a:xfrm>
            <a:off x="4461654" y="5947237"/>
            <a:ext cx="878113" cy="537883"/>
          </a:xfrm>
          <a:prstGeom prst="ellipse">
            <a:avLst/>
          </a:prstGeom>
          <a:solidFill>
            <a:srgbClr val="FF0000"/>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Met?</a:t>
            </a:r>
          </a:p>
        </p:txBody>
      </p:sp>
    </p:spTree>
    <p:extLst>
      <p:ext uri="{BB962C8B-B14F-4D97-AF65-F5344CB8AC3E}">
        <p14:creationId xmlns:p14="http://schemas.microsoft.com/office/powerpoint/2010/main" val="1113193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DC31-1488-8091-935A-1B03A14A5CD8}"/>
              </a:ext>
            </a:extLst>
          </p:cNvPr>
          <p:cNvSpPr>
            <a:spLocks noGrp="1"/>
          </p:cNvSpPr>
          <p:nvPr>
            <p:ph type="title"/>
          </p:nvPr>
        </p:nvSpPr>
        <p:spPr>
          <a:xfrm>
            <a:off x="512064" y="393192"/>
            <a:ext cx="10515600" cy="1613030"/>
          </a:xfrm>
        </p:spPr>
        <p:txBody>
          <a:bodyPr/>
          <a:lstStyle/>
          <a:p>
            <a:r>
              <a:rPr lang="en-US"/>
              <a:t>Model Flow 2</a:t>
            </a:r>
            <a:endParaRPr lang="en-US" dirty="0"/>
          </a:p>
        </p:txBody>
      </p:sp>
      <p:sp>
        <p:nvSpPr>
          <p:cNvPr id="8" name="Date Placeholder 7">
            <a:extLst>
              <a:ext uri="{FF2B5EF4-FFF2-40B4-BE49-F238E27FC236}">
                <a16:creationId xmlns:a16="http://schemas.microsoft.com/office/drawing/2014/main" id="{3B8B492D-0778-C859-9200-08161ABEBFE5}"/>
              </a:ext>
            </a:extLst>
          </p:cNvPr>
          <p:cNvSpPr>
            <a:spLocks noGrp="1"/>
          </p:cNvSpPr>
          <p:nvPr>
            <p:ph type="dt" sz="half" idx="10"/>
          </p:nvPr>
        </p:nvSpPr>
        <p:spPr>
          <a:xfrm>
            <a:off x="365759" y="6378596"/>
            <a:ext cx="1333779" cy="397108"/>
          </a:xfrm>
        </p:spPr>
        <p:txBody>
          <a:bodyPr/>
          <a:lstStyle/>
          <a:p>
            <a:r>
              <a:rPr lang="en-US" dirty="0"/>
              <a:t>2024-07-06</a:t>
            </a:r>
          </a:p>
        </p:txBody>
      </p:sp>
      <p:sp>
        <p:nvSpPr>
          <p:cNvPr id="9" name="Footer Placeholder 8">
            <a:extLst>
              <a:ext uri="{FF2B5EF4-FFF2-40B4-BE49-F238E27FC236}">
                <a16:creationId xmlns:a16="http://schemas.microsoft.com/office/drawing/2014/main" id="{B1185DEE-1419-7DB6-949B-929195894BC8}"/>
              </a:ext>
            </a:extLst>
          </p:cNvPr>
          <p:cNvSpPr>
            <a:spLocks noGrp="1"/>
          </p:cNvSpPr>
          <p:nvPr>
            <p:ph type="ftr" sz="quarter" idx="11"/>
          </p:nvPr>
        </p:nvSpPr>
        <p:spPr/>
        <p:txBody>
          <a:bodyPr/>
          <a:lstStyle/>
          <a:p>
            <a:r>
              <a:rPr lang="en-US" dirty="0"/>
              <a:t>Climate Change Model</a:t>
            </a:r>
          </a:p>
        </p:txBody>
      </p:sp>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a:lstStyle/>
          <a:p>
            <a:fld id="{58FB4751-880F-D840-AAA9-3A15815CC996}" type="slidenum">
              <a:rPr lang="en-US" smtClean="0"/>
              <a:pPr/>
              <a:t>8</a:t>
            </a:fld>
            <a:endParaRPr lang="en-US" dirty="0"/>
          </a:p>
        </p:txBody>
      </p:sp>
      <p:sp>
        <p:nvSpPr>
          <p:cNvPr id="20" name="Rectangle: Rounded Corners 19">
            <a:extLst>
              <a:ext uri="{FF2B5EF4-FFF2-40B4-BE49-F238E27FC236}">
                <a16:creationId xmlns:a16="http://schemas.microsoft.com/office/drawing/2014/main" id="{3AB56943-C335-32FD-DE14-28E2E647533E}"/>
              </a:ext>
            </a:extLst>
          </p:cNvPr>
          <p:cNvSpPr/>
          <p:nvPr/>
        </p:nvSpPr>
        <p:spPr>
          <a:xfrm>
            <a:off x="452262" y="2011623"/>
            <a:ext cx="1247276" cy="12938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Past</a:t>
            </a:r>
          </a:p>
          <a:p>
            <a:pPr algn="ctr"/>
            <a:r>
              <a:rPr lang="en-US" dirty="0">
                <a:solidFill>
                  <a:schemeClr val="accent2"/>
                </a:solidFill>
                <a:latin typeface="Aptos SemiBold" panose="020B0004020202020204" pitchFamily="34" charset="0"/>
              </a:rPr>
              <a:t>Hourly Supply</a:t>
            </a:r>
          </a:p>
          <a:p>
            <a:pPr algn="ctr"/>
            <a:r>
              <a:rPr lang="en-US" dirty="0">
                <a:solidFill>
                  <a:schemeClr val="accent2"/>
                </a:solidFill>
                <a:latin typeface="Aptos SemiBold" panose="020B0004020202020204" pitchFamily="34" charset="0"/>
              </a:rPr>
              <a:t>Per NRG</a:t>
            </a:r>
          </a:p>
        </p:txBody>
      </p:sp>
      <p:sp>
        <p:nvSpPr>
          <p:cNvPr id="21" name="Rectangle: Rounded Corners 20">
            <a:extLst>
              <a:ext uri="{FF2B5EF4-FFF2-40B4-BE49-F238E27FC236}">
                <a16:creationId xmlns:a16="http://schemas.microsoft.com/office/drawing/2014/main" id="{4F38DA3E-4764-F11E-CC21-EEB369C38776}"/>
              </a:ext>
            </a:extLst>
          </p:cNvPr>
          <p:cNvSpPr/>
          <p:nvPr/>
        </p:nvSpPr>
        <p:spPr>
          <a:xfrm>
            <a:off x="417587" y="3574577"/>
            <a:ext cx="1165706" cy="10551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Total Hourly Supply</a:t>
            </a:r>
          </a:p>
        </p:txBody>
      </p:sp>
      <p:sp>
        <p:nvSpPr>
          <p:cNvPr id="22" name="Rectangle: Rounded Corners 21">
            <a:extLst>
              <a:ext uri="{FF2B5EF4-FFF2-40B4-BE49-F238E27FC236}">
                <a16:creationId xmlns:a16="http://schemas.microsoft.com/office/drawing/2014/main" id="{439CD8A4-66AF-5429-6E52-CA4C80970DBD}"/>
              </a:ext>
            </a:extLst>
          </p:cNvPr>
          <p:cNvSpPr/>
          <p:nvPr/>
        </p:nvSpPr>
        <p:spPr>
          <a:xfrm>
            <a:off x="417587" y="4868581"/>
            <a:ext cx="1165706" cy="13439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NRG/ CO2 Prices, </a:t>
            </a:r>
            <a:r>
              <a:rPr lang="en-US" dirty="0" err="1">
                <a:solidFill>
                  <a:schemeClr val="accent2"/>
                </a:solidFill>
                <a:latin typeface="Aptos SemiBold" panose="020B0004020202020204" pitchFamily="34" charset="0"/>
              </a:rPr>
              <a:t>Etc</a:t>
            </a:r>
            <a:endParaRPr lang="en-US" dirty="0">
              <a:solidFill>
                <a:schemeClr val="accent2"/>
              </a:solidFill>
              <a:latin typeface="Aptos SemiBold" panose="020B0004020202020204" pitchFamily="34" charset="0"/>
            </a:endParaRPr>
          </a:p>
        </p:txBody>
      </p:sp>
      <p:sp>
        <p:nvSpPr>
          <p:cNvPr id="23" name="Oval 22">
            <a:extLst>
              <a:ext uri="{FF2B5EF4-FFF2-40B4-BE49-F238E27FC236}">
                <a16:creationId xmlns:a16="http://schemas.microsoft.com/office/drawing/2014/main" id="{002733C3-DC66-9275-9D58-543928DA1E2C}"/>
              </a:ext>
            </a:extLst>
          </p:cNvPr>
          <p:cNvSpPr/>
          <p:nvPr/>
        </p:nvSpPr>
        <p:spPr>
          <a:xfrm>
            <a:off x="2189994" y="2060175"/>
            <a:ext cx="1699013" cy="12112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End Of Life</a:t>
            </a:r>
          </a:p>
        </p:txBody>
      </p:sp>
      <p:sp>
        <p:nvSpPr>
          <p:cNvPr id="24" name="Oval 23">
            <a:extLst>
              <a:ext uri="{FF2B5EF4-FFF2-40B4-BE49-F238E27FC236}">
                <a16:creationId xmlns:a16="http://schemas.microsoft.com/office/drawing/2014/main" id="{068AF5B5-8904-70D4-826D-AE0D8F64AA95}"/>
              </a:ext>
            </a:extLst>
          </p:cNvPr>
          <p:cNvSpPr/>
          <p:nvPr/>
        </p:nvSpPr>
        <p:spPr>
          <a:xfrm>
            <a:off x="2107427" y="3491304"/>
            <a:ext cx="1700784" cy="12112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Demand increase</a:t>
            </a:r>
          </a:p>
        </p:txBody>
      </p:sp>
      <p:sp>
        <p:nvSpPr>
          <p:cNvPr id="25" name="Oval 24">
            <a:extLst>
              <a:ext uri="{FF2B5EF4-FFF2-40B4-BE49-F238E27FC236}">
                <a16:creationId xmlns:a16="http://schemas.microsoft.com/office/drawing/2014/main" id="{3294B806-DE37-0B72-F110-F9BA6BC5B6A8}"/>
              </a:ext>
            </a:extLst>
          </p:cNvPr>
          <p:cNvSpPr/>
          <p:nvPr/>
        </p:nvSpPr>
        <p:spPr>
          <a:xfrm>
            <a:off x="2107427" y="4934949"/>
            <a:ext cx="1700784" cy="12112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Case Mods</a:t>
            </a:r>
          </a:p>
        </p:txBody>
      </p:sp>
      <p:sp>
        <p:nvSpPr>
          <p:cNvPr id="26" name="Rectangle: Rounded Corners 25">
            <a:extLst>
              <a:ext uri="{FF2B5EF4-FFF2-40B4-BE49-F238E27FC236}">
                <a16:creationId xmlns:a16="http://schemas.microsoft.com/office/drawing/2014/main" id="{E7FE3973-EE23-86F5-2561-63F8B41FC6BD}"/>
              </a:ext>
            </a:extLst>
          </p:cNvPr>
          <p:cNvSpPr/>
          <p:nvPr/>
        </p:nvSpPr>
        <p:spPr>
          <a:xfrm>
            <a:off x="4279437" y="2018883"/>
            <a:ext cx="1247276" cy="12938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Base Hourly</a:t>
            </a:r>
          </a:p>
          <a:p>
            <a:pPr algn="ctr"/>
            <a:r>
              <a:rPr lang="en-US" dirty="0">
                <a:solidFill>
                  <a:schemeClr val="accent2"/>
                </a:solidFill>
                <a:latin typeface="Aptos SemiBold" panose="020B0004020202020204" pitchFamily="34" charset="0"/>
              </a:rPr>
              <a:t>Supply</a:t>
            </a:r>
          </a:p>
        </p:txBody>
      </p:sp>
      <p:sp>
        <p:nvSpPr>
          <p:cNvPr id="27" name="Oval 26">
            <a:extLst>
              <a:ext uri="{FF2B5EF4-FFF2-40B4-BE49-F238E27FC236}">
                <a16:creationId xmlns:a16="http://schemas.microsoft.com/office/drawing/2014/main" id="{A3C2CF81-7AC5-AEBB-3C41-718AEF6EA65F}"/>
              </a:ext>
            </a:extLst>
          </p:cNvPr>
          <p:cNvSpPr/>
          <p:nvPr/>
        </p:nvSpPr>
        <p:spPr>
          <a:xfrm>
            <a:off x="5929144" y="2080579"/>
            <a:ext cx="1699013" cy="12112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Add Capacity (Test)</a:t>
            </a:r>
          </a:p>
        </p:txBody>
      </p:sp>
      <p:sp>
        <p:nvSpPr>
          <p:cNvPr id="28" name="Rectangle: Rounded Corners 27">
            <a:extLst>
              <a:ext uri="{FF2B5EF4-FFF2-40B4-BE49-F238E27FC236}">
                <a16:creationId xmlns:a16="http://schemas.microsoft.com/office/drawing/2014/main" id="{0698C06A-B49D-B793-FBFA-AC8109256371}"/>
              </a:ext>
            </a:extLst>
          </p:cNvPr>
          <p:cNvSpPr/>
          <p:nvPr/>
        </p:nvSpPr>
        <p:spPr>
          <a:xfrm>
            <a:off x="5630024" y="3674975"/>
            <a:ext cx="1885610" cy="24021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Calculate Cost</a:t>
            </a:r>
          </a:p>
          <a:p>
            <a:pPr algn="ctr"/>
            <a:r>
              <a:rPr lang="en-US" dirty="0">
                <a:solidFill>
                  <a:schemeClr val="accent2"/>
                </a:solidFill>
                <a:latin typeface="Aptos SemiBold" panose="020B0004020202020204" pitchFamily="34" charset="0"/>
              </a:rPr>
              <a:t>(CO2 Price, Fixed, Variable, Outage)</a:t>
            </a:r>
          </a:p>
        </p:txBody>
      </p:sp>
      <p:cxnSp>
        <p:nvCxnSpPr>
          <p:cNvPr id="30" name="Straight Arrow Connector 29">
            <a:extLst>
              <a:ext uri="{FF2B5EF4-FFF2-40B4-BE49-F238E27FC236}">
                <a16:creationId xmlns:a16="http://schemas.microsoft.com/office/drawing/2014/main" id="{40A951DD-1CB3-35FA-7A4B-58D47A31BAC2}"/>
              </a:ext>
            </a:extLst>
          </p:cNvPr>
          <p:cNvCxnSpPr>
            <a:cxnSpLocks/>
            <a:stCxn id="27" idx="4"/>
            <a:endCxn id="28" idx="0"/>
          </p:cNvCxnSpPr>
          <p:nvPr/>
        </p:nvCxnSpPr>
        <p:spPr>
          <a:xfrm flipH="1">
            <a:off x="6572829" y="3291800"/>
            <a:ext cx="205822" cy="383175"/>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353C0CC-C1CD-CFD7-F9CB-D09A2F5051F9}"/>
              </a:ext>
            </a:extLst>
          </p:cNvPr>
          <p:cNvCxnSpPr>
            <a:cxnSpLocks/>
            <a:stCxn id="20" idx="3"/>
            <a:endCxn id="23" idx="2"/>
          </p:cNvCxnSpPr>
          <p:nvPr/>
        </p:nvCxnSpPr>
        <p:spPr>
          <a:xfrm>
            <a:off x="1699538" y="2658525"/>
            <a:ext cx="490456" cy="7261"/>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204380F-4F92-E62F-D2C4-657E4DEAF57B}"/>
              </a:ext>
            </a:extLst>
          </p:cNvPr>
          <p:cNvCxnSpPr>
            <a:cxnSpLocks/>
            <a:stCxn id="21" idx="3"/>
            <a:endCxn id="24" idx="2"/>
          </p:cNvCxnSpPr>
          <p:nvPr/>
        </p:nvCxnSpPr>
        <p:spPr>
          <a:xfrm flipV="1">
            <a:off x="1583293" y="4096915"/>
            <a:ext cx="524134" cy="5255"/>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2B219FE-794C-07E3-E517-C4612BBD1181}"/>
              </a:ext>
            </a:extLst>
          </p:cNvPr>
          <p:cNvCxnSpPr>
            <a:cxnSpLocks/>
            <a:stCxn id="22" idx="3"/>
            <a:endCxn id="25" idx="2"/>
          </p:cNvCxnSpPr>
          <p:nvPr/>
        </p:nvCxnSpPr>
        <p:spPr>
          <a:xfrm flipV="1">
            <a:off x="1583293" y="5540560"/>
            <a:ext cx="524134" cy="1"/>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A9E930E-FB06-3A41-8FE3-A531A67655FB}"/>
              </a:ext>
            </a:extLst>
          </p:cNvPr>
          <p:cNvCxnSpPr>
            <a:cxnSpLocks/>
            <a:stCxn id="23" idx="6"/>
            <a:endCxn id="26" idx="1"/>
          </p:cNvCxnSpPr>
          <p:nvPr/>
        </p:nvCxnSpPr>
        <p:spPr>
          <a:xfrm flipV="1">
            <a:off x="3889007" y="2665785"/>
            <a:ext cx="390430" cy="1"/>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96645B9-46DB-BDF8-E8A6-070FB69EFB8C}"/>
              </a:ext>
            </a:extLst>
          </p:cNvPr>
          <p:cNvCxnSpPr>
            <a:cxnSpLocks/>
          </p:cNvCxnSpPr>
          <p:nvPr/>
        </p:nvCxnSpPr>
        <p:spPr>
          <a:xfrm>
            <a:off x="3808211" y="4109538"/>
            <a:ext cx="1821813" cy="0"/>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938301F-74E6-E03F-5ACE-A2DC33CA2642}"/>
              </a:ext>
            </a:extLst>
          </p:cNvPr>
          <p:cNvCxnSpPr>
            <a:cxnSpLocks/>
            <a:stCxn id="25" idx="6"/>
          </p:cNvCxnSpPr>
          <p:nvPr/>
        </p:nvCxnSpPr>
        <p:spPr>
          <a:xfrm>
            <a:off x="3808211" y="5540560"/>
            <a:ext cx="1821813" cy="0"/>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311E262-151A-E947-D733-3B22FF9B199C}"/>
              </a:ext>
            </a:extLst>
          </p:cNvPr>
          <p:cNvCxnSpPr>
            <a:cxnSpLocks/>
            <a:stCxn id="26" idx="3"/>
            <a:endCxn id="27" idx="2"/>
          </p:cNvCxnSpPr>
          <p:nvPr/>
        </p:nvCxnSpPr>
        <p:spPr>
          <a:xfrm>
            <a:off x="5526713" y="2665785"/>
            <a:ext cx="402431" cy="20405"/>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sp>
        <p:nvSpPr>
          <p:cNvPr id="60" name="Diamond 59">
            <a:extLst>
              <a:ext uri="{FF2B5EF4-FFF2-40B4-BE49-F238E27FC236}">
                <a16:creationId xmlns:a16="http://schemas.microsoft.com/office/drawing/2014/main" id="{3FD7744F-139A-429F-DFCF-605FEA5432B7}"/>
              </a:ext>
            </a:extLst>
          </p:cNvPr>
          <p:cNvSpPr/>
          <p:nvPr/>
        </p:nvSpPr>
        <p:spPr>
          <a:xfrm>
            <a:off x="8244477" y="3130870"/>
            <a:ext cx="1463455" cy="1287473"/>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alpha val="99000"/>
                  </a:schemeClr>
                </a:solidFill>
                <a:latin typeface="Aptos SemiBold" panose="020B0004020202020204" pitchFamily="34" charset="0"/>
              </a:rPr>
              <a:t>Best?</a:t>
            </a:r>
          </a:p>
        </p:txBody>
      </p:sp>
      <p:cxnSp>
        <p:nvCxnSpPr>
          <p:cNvPr id="62" name="Connector: Curved 61">
            <a:extLst>
              <a:ext uri="{FF2B5EF4-FFF2-40B4-BE49-F238E27FC236}">
                <a16:creationId xmlns:a16="http://schemas.microsoft.com/office/drawing/2014/main" id="{136828D9-FAF2-FA55-24A5-9633A4793D50}"/>
              </a:ext>
            </a:extLst>
          </p:cNvPr>
          <p:cNvCxnSpPr>
            <a:cxnSpLocks/>
            <a:stCxn id="60" idx="0"/>
            <a:endCxn id="27" idx="0"/>
          </p:cNvCxnSpPr>
          <p:nvPr/>
        </p:nvCxnSpPr>
        <p:spPr>
          <a:xfrm rot="16200000" flipV="1">
            <a:off x="7352283" y="1506948"/>
            <a:ext cx="1050291" cy="2197554"/>
          </a:xfrm>
          <a:prstGeom prst="curvedConnector3">
            <a:avLst>
              <a:gd name="adj1" fmla="val 121765"/>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CC0BB1E-0B56-DC1A-6E00-1F1B6A8101B9}"/>
              </a:ext>
            </a:extLst>
          </p:cNvPr>
          <p:cNvCxnSpPr>
            <a:cxnSpLocks/>
            <a:stCxn id="28" idx="3"/>
            <a:endCxn id="60" idx="1"/>
          </p:cNvCxnSpPr>
          <p:nvPr/>
        </p:nvCxnSpPr>
        <p:spPr>
          <a:xfrm flipV="1">
            <a:off x="7515634" y="3774607"/>
            <a:ext cx="728843" cy="1101463"/>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67A0C719-5279-AB42-1A57-A5E9B0D13A31}"/>
              </a:ext>
            </a:extLst>
          </p:cNvPr>
          <p:cNvSpPr txBox="1"/>
          <p:nvPr/>
        </p:nvSpPr>
        <p:spPr>
          <a:xfrm>
            <a:off x="8244477" y="2743563"/>
            <a:ext cx="594457" cy="461665"/>
          </a:xfrm>
          <a:prstGeom prst="rect">
            <a:avLst/>
          </a:prstGeom>
          <a:noFill/>
        </p:spPr>
        <p:txBody>
          <a:bodyPr wrap="square" rtlCol="0">
            <a:spAutoFit/>
          </a:bodyPr>
          <a:lstStyle/>
          <a:p>
            <a:r>
              <a:rPr lang="en-US" sz="2400" dirty="0">
                <a:solidFill>
                  <a:schemeClr val="accent2"/>
                </a:solidFill>
                <a:latin typeface="Aptos SemiBold" panose="020B0004020202020204" pitchFamily="34" charset="0"/>
              </a:rPr>
              <a:t>No</a:t>
            </a:r>
          </a:p>
        </p:txBody>
      </p:sp>
      <p:sp>
        <p:nvSpPr>
          <p:cNvPr id="70" name="TextBox 69">
            <a:extLst>
              <a:ext uri="{FF2B5EF4-FFF2-40B4-BE49-F238E27FC236}">
                <a16:creationId xmlns:a16="http://schemas.microsoft.com/office/drawing/2014/main" id="{9DF81DBE-D496-2527-C077-97127CCFF48A}"/>
              </a:ext>
            </a:extLst>
          </p:cNvPr>
          <p:cNvSpPr txBox="1"/>
          <p:nvPr/>
        </p:nvSpPr>
        <p:spPr>
          <a:xfrm>
            <a:off x="9482674" y="3224003"/>
            <a:ext cx="715321" cy="461665"/>
          </a:xfrm>
          <a:prstGeom prst="rect">
            <a:avLst/>
          </a:prstGeom>
          <a:noFill/>
        </p:spPr>
        <p:txBody>
          <a:bodyPr wrap="square" rtlCol="0">
            <a:spAutoFit/>
          </a:bodyPr>
          <a:lstStyle/>
          <a:p>
            <a:r>
              <a:rPr lang="en-US" sz="2400" dirty="0">
                <a:solidFill>
                  <a:schemeClr val="accent2"/>
                </a:solidFill>
                <a:latin typeface="Aptos SemiBold" panose="020B0004020202020204" pitchFamily="34" charset="0"/>
              </a:rPr>
              <a:t>Yes</a:t>
            </a:r>
          </a:p>
        </p:txBody>
      </p:sp>
      <p:sp>
        <p:nvSpPr>
          <p:cNvPr id="71" name="Rectangle: Rounded Corners 70">
            <a:extLst>
              <a:ext uri="{FF2B5EF4-FFF2-40B4-BE49-F238E27FC236}">
                <a16:creationId xmlns:a16="http://schemas.microsoft.com/office/drawing/2014/main" id="{BE9E02EF-5992-8978-8243-A3A7B7845AA5}"/>
              </a:ext>
            </a:extLst>
          </p:cNvPr>
          <p:cNvSpPr/>
          <p:nvPr/>
        </p:nvSpPr>
        <p:spPr>
          <a:xfrm>
            <a:off x="10307863" y="5215760"/>
            <a:ext cx="1165706" cy="6145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Put in Library</a:t>
            </a:r>
          </a:p>
        </p:txBody>
      </p:sp>
      <p:cxnSp>
        <p:nvCxnSpPr>
          <p:cNvPr id="72" name="Straight Arrow Connector 71">
            <a:extLst>
              <a:ext uri="{FF2B5EF4-FFF2-40B4-BE49-F238E27FC236}">
                <a16:creationId xmlns:a16="http://schemas.microsoft.com/office/drawing/2014/main" id="{051493AF-86D0-1CB3-EEB7-5EE20A3B913E}"/>
              </a:ext>
            </a:extLst>
          </p:cNvPr>
          <p:cNvCxnSpPr>
            <a:cxnSpLocks/>
            <a:stCxn id="60" idx="3"/>
            <a:endCxn id="50" idx="1"/>
          </p:cNvCxnSpPr>
          <p:nvPr/>
        </p:nvCxnSpPr>
        <p:spPr>
          <a:xfrm>
            <a:off x="9707932" y="3774607"/>
            <a:ext cx="331074" cy="24078"/>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sp>
        <p:nvSpPr>
          <p:cNvPr id="50" name="Diamond 49">
            <a:extLst>
              <a:ext uri="{FF2B5EF4-FFF2-40B4-BE49-F238E27FC236}">
                <a16:creationId xmlns:a16="http://schemas.microsoft.com/office/drawing/2014/main" id="{845B7C21-EEEA-3A91-6FBB-1F06A4B46CE9}"/>
              </a:ext>
            </a:extLst>
          </p:cNvPr>
          <p:cNvSpPr/>
          <p:nvPr/>
        </p:nvSpPr>
        <p:spPr>
          <a:xfrm>
            <a:off x="10039006" y="3154948"/>
            <a:ext cx="1735407" cy="1287473"/>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alpha val="99000"/>
                  </a:schemeClr>
                </a:solidFill>
                <a:latin typeface="Aptos SemiBold" panose="020B0004020202020204" pitchFamily="34" charset="0"/>
              </a:rPr>
              <a:t>27 Years?</a:t>
            </a:r>
          </a:p>
        </p:txBody>
      </p:sp>
      <p:sp>
        <p:nvSpPr>
          <p:cNvPr id="57" name="Rectangle: Rounded Corners 56">
            <a:extLst>
              <a:ext uri="{FF2B5EF4-FFF2-40B4-BE49-F238E27FC236}">
                <a16:creationId xmlns:a16="http://schemas.microsoft.com/office/drawing/2014/main" id="{E788119A-D19D-9C31-7E91-F225C6F000B2}"/>
              </a:ext>
            </a:extLst>
          </p:cNvPr>
          <p:cNvSpPr/>
          <p:nvPr/>
        </p:nvSpPr>
        <p:spPr>
          <a:xfrm>
            <a:off x="10307192" y="1716116"/>
            <a:ext cx="1165706" cy="6145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latin typeface="Aptos SemiBold" panose="020B0004020202020204" pitchFamily="34" charset="0"/>
              </a:rPr>
              <a:t>Do Next Year</a:t>
            </a:r>
          </a:p>
        </p:txBody>
      </p:sp>
      <p:cxnSp>
        <p:nvCxnSpPr>
          <p:cNvPr id="58" name="Straight Arrow Connector 57">
            <a:extLst>
              <a:ext uri="{FF2B5EF4-FFF2-40B4-BE49-F238E27FC236}">
                <a16:creationId xmlns:a16="http://schemas.microsoft.com/office/drawing/2014/main" id="{0822ADDE-00DA-D512-5CD2-1965FE41B237}"/>
              </a:ext>
            </a:extLst>
          </p:cNvPr>
          <p:cNvCxnSpPr>
            <a:cxnSpLocks/>
            <a:stCxn id="50" idx="0"/>
            <a:endCxn id="57" idx="2"/>
          </p:cNvCxnSpPr>
          <p:nvPr/>
        </p:nvCxnSpPr>
        <p:spPr>
          <a:xfrm flipH="1" flipV="1">
            <a:off x="10890045" y="2330653"/>
            <a:ext cx="16665" cy="824295"/>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26C494E-E79F-2EC4-C019-40A8C503D0F2}"/>
              </a:ext>
            </a:extLst>
          </p:cNvPr>
          <p:cNvSpPr txBox="1"/>
          <p:nvPr/>
        </p:nvSpPr>
        <p:spPr>
          <a:xfrm>
            <a:off x="11071904" y="2582467"/>
            <a:ext cx="594457" cy="461665"/>
          </a:xfrm>
          <a:prstGeom prst="rect">
            <a:avLst/>
          </a:prstGeom>
          <a:noFill/>
        </p:spPr>
        <p:txBody>
          <a:bodyPr wrap="square" rtlCol="0">
            <a:spAutoFit/>
          </a:bodyPr>
          <a:lstStyle/>
          <a:p>
            <a:r>
              <a:rPr lang="en-US" sz="2400" dirty="0">
                <a:solidFill>
                  <a:schemeClr val="accent2"/>
                </a:solidFill>
                <a:latin typeface="Aptos SemiBold" panose="020B0004020202020204" pitchFamily="34" charset="0"/>
              </a:rPr>
              <a:t>No</a:t>
            </a:r>
          </a:p>
        </p:txBody>
      </p:sp>
      <p:cxnSp>
        <p:nvCxnSpPr>
          <p:cNvPr id="66" name="Straight Arrow Connector 65">
            <a:extLst>
              <a:ext uri="{FF2B5EF4-FFF2-40B4-BE49-F238E27FC236}">
                <a16:creationId xmlns:a16="http://schemas.microsoft.com/office/drawing/2014/main" id="{F4115893-B2BB-D8F2-47C7-A87467953C04}"/>
              </a:ext>
            </a:extLst>
          </p:cNvPr>
          <p:cNvCxnSpPr>
            <a:cxnSpLocks/>
            <a:stCxn id="50" idx="2"/>
            <a:endCxn id="71" idx="0"/>
          </p:cNvCxnSpPr>
          <p:nvPr/>
        </p:nvCxnSpPr>
        <p:spPr>
          <a:xfrm flipH="1">
            <a:off x="10890716" y="4442421"/>
            <a:ext cx="15994" cy="773339"/>
          </a:xfrm>
          <a:prstGeom prst="straightConnector1">
            <a:avLst/>
          </a:prstGeom>
          <a:ln w="4445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83DD77F4-F873-86F0-D12E-59A0E14E075F}"/>
              </a:ext>
            </a:extLst>
          </p:cNvPr>
          <p:cNvSpPr txBox="1"/>
          <p:nvPr/>
        </p:nvSpPr>
        <p:spPr>
          <a:xfrm>
            <a:off x="11071904" y="4502281"/>
            <a:ext cx="715321" cy="461665"/>
          </a:xfrm>
          <a:prstGeom prst="rect">
            <a:avLst/>
          </a:prstGeom>
          <a:noFill/>
        </p:spPr>
        <p:txBody>
          <a:bodyPr wrap="square" rtlCol="0">
            <a:spAutoFit/>
          </a:bodyPr>
          <a:lstStyle/>
          <a:p>
            <a:r>
              <a:rPr lang="en-US" sz="2400" dirty="0">
                <a:solidFill>
                  <a:schemeClr val="accent2"/>
                </a:solidFill>
                <a:latin typeface="Aptos SemiBold" panose="020B0004020202020204" pitchFamily="34" charset="0"/>
              </a:rPr>
              <a:t>Yes</a:t>
            </a:r>
          </a:p>
        </p:txBody>
      </p:sp>
    </p:spTree>
    <p:extLst>
      <p:ext uri="{BB962C8B-B14F-4D97-AF65-F5344CB8AC3E}">
        <p14:creationId xmlns:p14="http://schemas.microsoft.com/office/powerpoint/2010/main" val="3563241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58132A-BDB1-4869-2216-8DA2910A7269}"/>
              </a:ext>
            </a:extLst>
          </p:cNvPr>
          <p:cNvSpPr>
            <a:spLocks noGrp="1"/>
          </p:cNvSpPr>
          <p:nvPr>
            <p:ph sz="half" idx="2"/>
          </p:nvPr>
        </p:nvSpPr>
        <p:spPr/>
        <p:txBody>
          <a:bodyPr>
            <a:noAutofit/>
          </a:bodyPr>
          <a:lstStyle/>
          <a:p>
            <a:r>
              <a:rPr lang="en-US" sz="3200" dirty="0"/>
              <a:t>This is the detailed block diagram</a:t>
            </a:r>
          </a:p>
          <a:p>
            <a:r>
              <a:rPr lang="en-US" sz="3200" dirty="0"/>
              <a:t>It shows all the steps, and the names of associated files</a:t>
            </a:r>
          </a:p>
          <a:p>
            <a:r>
              <a:rPr lang="en-US" sz="3200" dirty="0"/>
              <a:t>Do you want to get into it now?</a:t>
            </a:r>
          </a:p>
        </p:txBody>
      </p:sp>
      <p:sp>
        <p:nvSpPr>
          <p:cNvPr id="3" name="Date Placeholder 2">
            <a:extLst>
              <a:ext uri="{FF2B5EF4-FFF2-40B4-BE49-F238E27FC236}">
                <a16:creationId xmlns:a16="http://schemas.microsoft.com/office/drawing/2014/main" id="{72C9F485-13AE-0ABF-56C3-20229DC275B7}"/>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7064422B-2708-394B-A80C-A7B9C0571E52}"/>
              </a:ext>
            </a:extLst>
          </p:cNvPr>
          <p:cNvSpPr>
            <a:spLocks noGrp="1"/>
          </p:cNvSpPr>
          <p:nvPr>
            <p:ph type="ftr" sz="quarter" idx="11"/>
          </p:nvPr>
        </p:nvSpPr>
        <p:spPr/>
        <p:txBody>
          <a:bodyPr/>
          <a:lstStyle/>
          <a:p>
            <a:r>
              <a:rPr lang="en-US"/>
              <a:t>Climate Change Model</a:t>
            </a:r>
            <a:endParaRPr lang="en-US" dirty="0"/>
          </a:p>
        </p:txBody>
      </p:sp>
      <p:sp>
        <p:nvSpPr>
          <p:cNvPr id="5" name="Slide Number Placeholder 4">
            <a:extLst>
              <a:ext uri="{FF2B5EF4-FFF2-40B4-BE49-F238E27FC236}">
                <a16:creationId xmlns:a16="http://schemas.microsoft.com/office/drawing/2014/main" id="{E58CF811-04EF-C046-7D4F-80EFD98F31A3}"/>
              </a:ext>
            </a:extLst>
          </p:cNvPr>
          <p:cNvSpPr>
            <a:spLocks noGrp="1"/>
          </p:cNvSpPr>
          <p:nvPr>
            <p:ph type="sldNum" sz="quarter" idx="12"/>
          </p:nvPr>
        </p:nvSpPr>
        <p:spPr/>
        <p:txBody>
          <a:bodyPr/>
          <a:lstStyle/>
          <a:p>
            <a:fld id="{58FB4751-880F-D840-AAA9-3A15815CC996}" type="slidenum">
              <a:rPr lang="en-US" smtClean="0"/>
              <a:pPr/>
              <a:t>9</a:t>
            </a:fld>
            <a:endParaRPr lang="en-US" dirty="0"/>
          </a:p>
        </p:txBody>
      </p:sp>
      <p:pic>
        <p:nvPicPr>
          <p:cNvPr id="11" name="Content Placeholder 10" descr="A diagram of a flowchart&#10;&#10;Description automatically generated">
            <a:extLst>
              <a:ext uri="{FF2B5EF4-FFF2-40B4-BE49-F238E27FC236}">
                <a16:creationId xmlns:a16="http://schemas.microsoft.com/office/drawing/2014/main" id="{1B177CB0-07A3-E162-6B53-DE38C58E2889}"/>
              </a:ext>
            </a:extLst>
          </p:cNvPr>
          <p:cNvPicPr>
            <a:picLocks noGrp="1" noChangeAspect="1"/>
          </p:cNvPicPr>
          <p:nvPr>
            <p:ph sz="quarter" idx="4"/>
          </p:nvPr>
        </p:nvPicPr>
        <p:blipFill>
          <a:blip r:embed="rId2"/>
          <a:stretch>
            <a:fillRect/>
          </a:stretch>
        </p:blipFill>
        <p:spPr>
          <a:xfrm>
            <a:off x="7903812" y="286257"/>
            <a:ext cx="4059287" cy="5770832"/>
          </a:xfrm>
        </p:spPr>
      </p:pic>
      <p:sp>
        <p:nvSpPr>
          <p:cNvPr id="9" name="Title 8">
            <a:extLst>
              <a:ext uri="{FF2B5EF4-FFF2-40B4-BE49-F238E27FC236}">
                <a16:creationId xmlns:a16="http://schemas.microsoft.com/office/drawing/2014/main" id="{2AA569EA-0A7B-F6F7-BFEA-9F3D4C506367}"/>
              </a:ext>
            </a:extLst>
          </p:cNvPr>
          <p:cNvSpPr>
            <a:spLocks noGrp="1"/>
          </p:cNvSpPr>
          <p:nvPr>
            <p:ph type="title"/>
          </p:nvPr>
        </p:nvSpPr>
        <p:spPr/>
        <p:txBody>
          <a:bodyPr/>
          <a:lstStyle/>
          <a:p>
            <a:r>
              <a:rPr lang="en-US" dirty="0"/>
              <a:t>Detailed Block Diagram</a:t>
            </a:r>
          </a:p>
        </p:txBody>
      </p:sp>
    </p:spTree>
    <p:extLst>
      <p:ext uri="{BB962C8B-B14F-4D97-AF65-F5344CB8AC3E}">
        <p14:creationId xmlns:p14="http://schemas.microsoft.com/office/powerpoint/2010/main" val="660944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DC31-1488-8091-935A-1B03A14A5CD8}"/>
              </a:ext>
            </a:extLst>
          </p:cNvPr>
          <p:cNvSpPr>
            <a:spLocks noGrp="1"/>
          </p:cNvSpPr>
          <p:nvPr>
            <p:ph type="title"/>
          </p:nvPr>
        </p:nvSpPr>
        <p:spPr>
          <a:xfrm>
            <a:off x="512064" y="422203"/>
            <a:ext cx="10515600" cy="1493345"/>
          </a:xfrm>
        </p:spPr>
        <p:txBody>
          <a:bodyPr/>
          <a:lstStyle/>
          <a:p>
            <a:r>
              <a:rPr lang="en-US" dirty="0"/>
              <a:t>Building the Model:</a:t>
            </a:r>
            <a:br>
              <a:rPr lang="en-US" dirty="0"/>
            </a:br>
            <a:r>
              <a:rPr lang="en-US" dirty="0"/>
              <a:t>	Library</a:t>
            </a:r>
          </a:p>
        </p:txBody>
      </p:sp>
      <p:sp>
        <p:nvSpPr>
          <p:cNvPr id="8" name="Date Placeholder 7">
            <a:extLst>
              <a:ext uri="{FF2B5EF4-FFF2-40B4-BE49-F238E27FC236}">
                <a16:creationId xmlns:a16="http://schemas.microsoft.com/office/drawing/2014/main" id="{3B8B492D-0778-C859-9200-08161ABEBFE5}"/>
              </a:ext>
            </a:extLst>
          </p:cNvPr>
          <p:cNvSpPr>
            <a:spLocks noGrp="1"/>
          </p:cNvSpPr>
          <p:nvPr>
            <p:ph type="dt" sz="half" idx="10"/>
          </p:nvPr>
        </p:nvSpPr>
        <p:spPr>
          <a:xfrm>
            <a:off x="365759" y="6373368"/>
            <a:ext cx="1592301" cy="402336"/>
          </a:xfrm>
        </p:spPr>
        <p:txBody>
          <a:bodyPr/>
          <a:lstStyle/>
          <a:p>
            <a:r>
              <a:rPr lang="en-US" dirty="0"/>
              <a:t>2024-07-06</a:t>
            </a:r>
          </a:p>
        </p:txBody>
      </p:sp>
      <p:sp>
        <p:nvSpPr>
          <p:cNvPr id="9" name="Footer Placeholder 8">
            <a:extLst>
              <a:ext uri="{FF2B5EF4-FFF2-40B4-BE49-F238E27FC236}">
                <a16:creationId xmlns:a16="http://schemas.microsoft.com/office/drawing/2014/main" id="{B1185DEE-1419-7DB6-949B-929195894BC8}"/>
              </a:ext>
            </a:extLst>
          </p:cNvPr>
          <p:cNvSpPr>
            <a:spLocks noGrp="1"/>
          </p:cNvSpPr>
          <p:nvPr>
            <p:ph type="ftr" sz="quarter" idx="11"/>
          </p:nvPr>
        </p:nvSpPr>
        <p:spPr/>
        <p:txBody>
          <a:bodyPr/>
          <a:lstStyle/>
          <a:p>
            <a:r>
              <a:rPr lang="en-US" dirty="0"/>
              <a:t>Climate Change Model</a:t>
            </a:r>
          </a:p>
        </p:txBody>
      </p:sp>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a:lstStyle/>
          <a:p>
            <a:fld id="{58FB4751-880F-D840-AAA9-3A15815CC996}" type="slidenum">
              <a:rPr lang="en-US" smtClean="0"/>
              <a:pPr/>
              <a:t>10</a:t>
            </a:fld>
            <a:endParaRPr lang="en-US" dirty="0"/>
          </a:p>
        </p:txBody>
      </p:sp>
      <p:sp>
        <p:nvSpPr>
          <p:cNvPr id="17" name="Content Placeholder 3">
            <a:extLst>
              <a:ext uri="{FF2B5EF4-FFF2-40B4-BE49-F238E27FC236}">
                <a16:creationId xmlns:a16="http://schemas.microsoft.com/office/drawing/2014/main" id="{FEA13789-F38F-90E0-F7CC-E72CD54D1987}"/>
              </a:ext>
            </a:extLst>
          </p:cNvPr>
          <p:cNvSpPr>
            <a:spLocks noGrp="1"/>
          </p:cNvSpPr>
          <p:nvPr>
            <p:ph sz="half" idx="2"/>
          </p:nvPr>
        </p:nvSpPr>
        <p:spPr>
          <a:xfrm>
            <a:off x="623947" y="2215156"/>
            <a:ext cx="6464808" cy="2683559"/>
          </a:xfrm>
        </p:spPr>
        <p:txBody>
          <a:bodyPr>
            <a:normAutofit/>
          </a:bodyPr>
          <a:lstStyle/>
          <a:p>
            <a:pPr>
              <a:spcAft>
                <a:spcPts val="1200"/>
              </a:spcAft>
            </a:pPr>
            <a:r>
              <a:rPr lang="en-US" sz="2000" dirty="0">
                <a:latin typeface="Gill Sans MT" panose="020B0502020104020203" pitchFamily="34" charset="0"/>
              </a:rPr>
              <a:t>Standard format for paths</a:t>
            </a:r>
          </a:p>
          <a:p>
            <a:pPr>
              <a:spcAft>
                <a:spcPts val="1200"/>
              </a:spcAft>
            </a:pPr>
            <a:r>
              <a:rPr lang="en-US" sz="2000" dirty="0">
                <a:latin typeface="Gill Sans MT" panose="020B0502020104020203" pitchFamily="34" charset="0"/>
              </a:rPr>
              <a:t>Run separately for each of 13 regions.  If possible, run in parallel on different cores in the processor.</a:t>
            </a:r>
          </a:p>
          <a:p>
            <a:pPr>
              <a:spcAft>
                <a:spcPts val="1200"/>
              </a:spcAft>
            </a:pPr>
            <a:r>
              <a:rPr lang="en-US" sz="2000" dirty="0">
                <a:latin typeface="Gill Sans MT" panose="020B0502020104020203" pitchFamily="34" charset="0"/>
              </a:rPr>
              <a:t>One “Case”, with 10 CO2’s, 13 regions takes about 1 </a:t>
            </a:r>
            <a:r>
              <a:rPr lang="en-US" sz="2000" dirty="0" err="1">
                <a:latin typeface="Gill Sans MT" panose="020B0502020104020203" pitchFamily="34" charset="0"/>
              </a:rPr>
              <a:t>Hr</a:t>
            </a:r>
            <a:r>
              <a:rPr lang="en-US" sz="2000" dirty="0">
                <a:latin typeface="Gill Sans MT" panose="020B0502020104020203" pitchFamily="34" charset="0"/>
              </a:rPr>
              <a:t> 40 min</a:t>
            </a:r>
          </a:p>
          <a:p>
            <a:pPr>
              <a:spcAft>
                <a:spcPts val="1200"/>
              </a:spcAft>
            </a:pPr>
            <a:r>
              <a:rPr lang="en-US" sz="2000" dirty="0">
                <a:latin typeface="Gill Sans MT" panose="020B0502020104020203" pitchFamily="34" charset="0"/>
              </a:rPr>
              <a:t>It goes through hourly loop about 25 billion times</a:t>
            </a:r>
          </a:p>
          <a:p>
            <a:pPr marL="0" indent="0">
              <a:spcAft>
                <a:spcPts val="1200"/>
              </a:spcAft>
              <a:buNone/>
            </a:pPr>
            <a:endParaRPr lang="en-US" sz="2000" dirty="0">
              <a:latin typeface="Gill Sans MT" panose="020B0502020104020203" pitchFamily="34" charset="0"/>
            </a:endParaRPr>
          </a:p>
          <a:p>
            <a:pPr>
              <a:spcAft>
                <a:spcPts val="1200"/>
              </a:spcAft>
            </a:pPr>
            <a:endParaRPr lang="en-US" sz="2000" dirty="0">
              <a:latin typeface="Gill Sans MT" panose="020B0502020104020203" pitchFamily="34" charset="0"/>
            </a:endParaRPr>
          </a:p>
          <a:p>
            <a:pPr>
              <a:spcAft>
                <a:spcPts val="1200"/>
              </a:spcAft>
            </a:pPr>
            <a:endParaRPr lang="en-US" sz="2000" dirty="0">
              <a:latin typeface="Gill Sans MT" panose="020B0502020104020203" pitchFamily="34" charset="0"/>
            </a:endParaRPr>
          </a:p>
          <a:p>
            <a:pPr>
              <a:spcAft>
                <a:spcPts val="1200"/>
              </a:spcAft>
            </a:pPr>
            <a:endParaRPr lang="en-US" sz="2000" dirty="0">
              <a:latin typeface="Gill Sans MT" panose="020B0502020104020203" pitchFamily="34" charset="0"/>
            </a:endParaRPr>
          </a:p>
        </p:txBody>
      </p:sp>
    </p:spTree>
    <p:extLst>
      <p:ext uri="{BB962C8B-B14F-4D97-AF65-F5344CB8AC3E}">
        <p14:creationId xmlns:p14="http://schemas.microsoft.com/office/powerpoint/2010/main" val="2816579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a:extLst>
            <a:ext uri="{FF2B5EF4-FFF2-40B4-BE49-F238E27FC236}">
              <a16:creationId xmlns:a16="http://schemas.microsoft.com/office/drawing/2014/main" id="{0B725383-4D27-9643-CDE4-995E9C436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E46B8-ACF3-FF18-A845-89DCD5BCDFD7}"/>
              </a:ext>
            </a:extLst>
          </p:cNvPr>
          <p:cNvSpPr>
            <a:spLocks noGrp="1"/>
          </p:cNvSpPr>
          <p:nvPr>
            <p:ph type="title"/>
          </p:nvPr>
        </p:nvSpPr>
        <p:spPr>
          <a:xfrm>
            <a:off x="512064" y="422203"/>
            <a:ext cx="10515600" cy="1493345"/>
          </a:xfrm>
        </p:spPr>
        <p:txBody>
          <a:bodyPr/>
          <a:lstStyle/>
          <a:p>
            <a:r>
              <a:rPr lang="en-US" dirty="0"/>
              <a:t>Building the Model: </a:t>
            </a:r>
            <a:br>
              <a:rPr lang="en-US" dirty="0"/>
            </a:br>
            <a:r>
              <a:rPr lang="en-US" dirty="0"/>
              <a:t>	Excel</a:t>
            </a:r>
          </a:p>
        </p:txBody>
      </p:sp>
      <p:sp>
        <p:nvSpPr>
          <p:cNvPr id="8" name="Date Placeholder 7">
            <a:extLst>
              <a:ext uri="{FF2B5EF4-FFF2-40B4-BE49-F238E27FC236}">
                <a16:creationId xmlns:a16="http://schemas.microsoft.com/office/drawing/2014/main" id="{580DEF19-CFB2-ED99-CE87-88BBAAA448E4}"/>
              </a:ext>
            </a:extLst>
          </p:cNvPr>
          <p:cNvSpPr>
            <a:spLocks noGrp="1"/>
          </p:cNvSpPr>
          <p:nvPr>
            <p:ph type="dt" sz="half" idx="10"/>
          </p:nvPr>
        </p:nvSpPr>
        <p:spPr>
          <a:xfrm>
            <a:off x="365759" y="6373368"/>
            <a:ext cx="1592301" cy="402336"/>
          </a:xfrm>
        </p:spPr>
        <p:txBody>
          <a:bodyPr/>
          <a:lstStyle/>
          <a:p>
            <a:r>
              <a:rPr lang="en-US" dirty="0"/>
              <a:t>2024-07-06</a:t>
            </a:r>
          </a:p>
        </p:txBody>
      </p:sp>
      <p:sp>
        <p:nvSpPr>
          <p:cNvPr id="9" name="Footer Placeholder 8">
            <a:extLst>
              <a:ext uri="{FF2B5EF4-FFF2-40B4-BE49-F238E27FC236}">
                <a16:creationId xmlns:a16="http://schemas.microsoft.com/office/drawing/2014/main" id="{FEAB0BBE-C479-FF34-BC83-80FC220E1E62}"/>
              </a:ext>
            </a:extLst>
          </p:cNvPr>
          <p:cNvSpPr>
            <a:spLocks noGrp="1"/>
          </p:cNvSpPr>
          <p:nvPr>
            <p:ph type="ftr" sz="quarter" idx="11"/>
          </p:nvPr>
        </p:nvSpPr>
        <p:spPr/>
        <p:txBody>
          <a:bodyPr/>
          <a:lstStyle/>
          <a:p>
            <a:r>
              <a:rPr lang="en-US" dirty="0"/>
              <a:t>Climate Change Model</a:t>
            </a:r>
          </a:p>
        </p:txBody>
      </p:sp>
      <p:sp>
        <p:nvSpPr>
          <p:cNvPr id="10" name="Slide Number Placeholder 9">
            <a:extLst>
              <a:ext uri="{FF2B5EF4-FFF2-40B4-BE49-F238E27FC236}">
                <a16:creationId xmlns:a16="http://schemas.microsoft.com/office/drawing/2014/main" id="{2D3E0DC1-1660-165D-68F2-618E88B3250F}"/>
              </a:ext>
            </a:extLst>
          </p:cNvPr>
          <p:cNvSpPr>
            <a:spLocks noGrp="1"/>
          </p:cNvSpPr>
          <p:nvPr>
            <p:ph type="sldNum" sz="quarter" idx="12"/>
          </p:nvPr>
        </p:nvSpPr>
        <p:spPr/>
        <p:txBody>
          <a:bodyPr/>
          <a:lstStyle/>
          <a:p>
            <a:fld id="{58FB4751-880F-D840-AAA9-3A15815CC996}" type="slidenum">
              <a:rPr lang="en-US" smtClean="0"/>
              <a:pPr/>
              <a:t>11</a:t>
            </a:fld>
            <a:endParaRPr lang="en-US" dirty="0"/>
          </a:p>
        </p:txBody>
      </p:sp>
      <p:graphicFrame>
        <p:nvGraphicFramePr>
          <p:cNvPr id="5" name="Table 4">
            <a:extLst>
              <a:ext uri="{FF2B5EF4-FFF2-40B4-BE49-F238E27FC236}">
                <a16:creationId xmlns:a16="http://schemas.microsoft.com/office/drawing/2014/main" id="{990B0401-8740-C691-0C90-8BAA40F8A100}"/>
              </a:ext>
            </a:extLst>
          </p:cNvPr>
          <p:cNvGraphicFramePr>
            <a:graphicFrameLocks noGrp="1"/>
          </p:cNvGraphicFramePr>
          <p:nvPr>
            <p:extLst>
              <p:ext uri="{D42A27DB-BD31-4B8C-83A1-F6EECF244321}">
                <p14:modId xmlns:p14="http://schemas.microsoft.com/office/powerpoint/2010/main" val="2037744963"/>
              </p:ext>
            </p:extLst>
          </p:nvPr>
        </p:nvGraphicFramePr>
        <p:xfrm>
          <a:off x="7668551" y="430749"/>
          <a:ext cx="4011385" cy="5628419"/>
        </p:xfrm>
        <a:graphic>
          <a:graphicData uri="http://schemas.openxmlformats.org/drawingml/2006/table">
            <a:tbl>
              <a:tblPr/>
              <a:tblGrid>
                <a:gridCol w="1427475">
                  <a:extLst>
                    <a:ext uri="{9D8B030D-6E8A-4147-A177-3AD203B41FA5}">
                      <a16:colId xmlns:a16="http://schemas.microsoft.com/office/drawing/2014/main" val="4219616839"/>
                    </a:ext>
                  </a:extLst>
                </a:gridCol>
                <a:gridCol w="1716584">
                  <a:extLst>
                    <a:ext uri="{9D8B030D-6E8A-4147-A177-3AD203B41FA5}">
                      <a16:colId xmlns:a16="http://schemas.microsoft.com/office/drawing/2014/main" val="1377838573"/>
                    </a:ext>
                  </a:extLst>
                </a:gridCol>
                <a:gridCol w="867326">
                  <a:extLst>
                    <a:ext uri="{9D8B030D-6E8A-4147-A177-3AD203B41FA5}">
                      <a16:colId xmlns:a16="http://schemas.microsoft.com/office/drawing/2014/main" val="1151960681"/>
                    </a:ext>
                  </a:extLst>
                </a:gridCol>
              </a:tblGrid>
              <a:tr h="746763">
                <a:tc>
                  <a:txBody>
                    <a:bodyPr/>
                    <a:lstStyle/>
                    <a:p>
                      <a:pPr algn="l" fontAlgn="b"/>
                      <a:r>
                        <a:rPr lang="en-US" sz="2000" b="1" i="0" u="none" strike="noStrike" baseline="0" dirty="0">
                          <a:solidFill>
                            <a:srgbClr val="000000"/>
                          </a:solidFill>
                          <a:effectLst/>
                          <a:latin typeface="Calibri" panose="020F0502020204030204" pitchFamily="34" charset="0"/>
                        </a:rPr>
                        <a:t>Command</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000" b="1" i="0" u="none" strike="noStrike" baseline="0" dirty="0">
                          <a:solidFill>
                            <a:srgbClr val="000000"/>
                          </a:solidFill>
                          <a:effectLst/>
                          <a:latin typeface="Calibri" panose="020F0502020204030204" pitchFamily="34" charset="0"/>
                        </a:rPr>
                        <a:t>Initial</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2000" b="1" i="0" u="none" strike="noStrike" baseline="0">
                          <a:solidFill>
                            <a:srgbClr val="000000"/>
                          </a:solidFill>
                          <a:effectLst/>
                          <a:latin typeface="Calibri" panose="020F0502020204030204" pitchFamily="34" charset="0"/>
                        </a:rPr>
                        <a:t>Per Year</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5611679"/>
                  </a:ext>
                </a:extLst>
              </a:tr>
              <a:tr h="367117">
                <a:tc>
                  <a:txBody>
                    <a:bodyPr/>
                    <a:lstStyle/>
                    <a:p>
                      <a:pPr algn="l" fontAlgn="b"/>
                      <a:r>
                        <a:rPr lang="en-US" sz="2000" b="0" i="0" u="none" strike="noStrike" baseline="0">
                          <a:solidFill>
                            <a:srgbClr val="000000"/>
                          </a:solidFill>
                          <a:effectLst/>
                          <a:latin typeface="Calibri" panose="020F0502020204030204" pitchFamily="34" charset="0"/>
                        </a:rPr>
                        <a:t>Clear</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873138296"/>
                  </a:ext>
                </a:extLst>
              </a:tr>
              <a:tr h="367117">
                <a:tc>
                  <a:txBody>
                    <a:bodyPr/>
                    <a:lstStyle/>
                    <a:p>
                      <a:pPr algn="l" fontAlgn="b"/>
                      <a:r>
                        <a:rPr lang="en-US" sz="2000" b="0" i="0" u="none" strike="noStrike" baseline="0">
                          <a:solidFill>
                            <a:srgbClr val="000000"/>
                          </a:solidFill>
                          <a:effectLst/>
                          <a:latin typeface="Calibri" panose="020F0502020204030204" pitchFamily="34" charset="0"/>
                        </a:rPr>
                        <a:t>Kill_Mail</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218056001"/>
                  </a:ext>
                </a:extLst>
              </a:tr>
              <a:tr h="367117">
                <a:tc>
                  <a:txBody>
                    <a:bodyPr/>
                    <a:lstStyle/>
                    <a:p>
                      <a:pPr algn="l" fontAlgn="b"/>
                      <a:r>
                        <a:rPr lang="en-US" sz="2000" b="0" i="0" u="none" strike="noStrike" baseline="0">
                          <a:solidFill>
                            <a:srgbClr val="000000"/>
                          </a:solidFill>
                          <a:effectLst/>
                          <a:latin typeface="Calibri" panose="020F0502020204030204" pitchFamily="34" charset="0"/>
                        </a:rPr>
                        <a:t>Region</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US</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670800694"/>
                  </a:ext>
                </a:extLst>
              </a:tr>
              <a:tr h="483770">
                <a:tc>
                  <a:txBody>
                    <a:bodyPr/>
                    <a:lstStyle/>
                    <a:p>
                      <a:pPr algn="l" fontAlgn="b"/>
                      <a:r>
                        <a:rPr lang="en-US" sz="2000" b="0" i="0" u="none" strike="noStrike" baseline="0">
                          <a:solidFill>
                            <a:srgbClr val="000000"/>
                          </a:solidFill>
                          <a:effectLst/>
                          <a:latin typeface="Calibri" panose="020F0502020204030204" pitchFamily="34" charset="0"/>
                        </a:rPr>
                        <a:t>Years</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US" sz="2000" b="0" i="0" u="none" strike="noStrike" baseline="0">
                          <a:solidFill>
                            <a:srgbClr val="000000"/>
                          </a:solidFill>
                          <a:effectLst/>
                          <a:latin typeface="Calibri" panose="020F0502020204030204" pitchFamily="34" charset="0"/>
                        </a:rPr>
                        <a:t>27</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918342907"/>
                  </a:ext>
                </a:extLst>
              </a:tr>
              <a:tr h="365864">
                <a:tc>
                  <a:txBody>
                    <a:bodyPr/>
                    <a:lstStyle/>
                    <a:p>
                      <a:pPr algn="l" fontAlgn="b"/>
                      <a:r>
                        <a:rPr lang="en-US" sz="2000" b="0" i="0" u="none" strike="noStrike" baseline="0">
                          <a:solidFill>
                            <a:srgbClr val="000000"/>
                          </a:solidFill>
                          <a:effectLst/>
                          <a:latin typeface="Calibri" panose="020F0502020204030204" pitchFamily="34" charset="0"/>
                        </a:rPr>
                        <a:t>Directory</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Demand</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596174453"/>
                  </a:ext>
                </a:extLst>
              </a:tr>
              <a:tr h="365864">
                <a:tc>
                  <a:txBody>
                    <a:bodyPr/>
                    <a:lstStyle/>
                    <a:p>
                      <a:pPr algn="l" fontAlgn="b"/>
                      <a:r>
                        <a:rPr lang="en-US" sz="2000" b="0" i="0" u="none" strike="noStrike" baseline="0">
                          <a:solidFill>
                            <a:srgbClr val="000000"/>
                          </a:solidFill>
                          <a:effectLst/>
                          <a:latin typeface="Calibri" panose="020F0502020204030204" pitchFamily="34" charset="0"/>
                        </a:rPr>
                        <a:t>SubDir</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US" sz="2000" b="0" i="0" u="none" strike="noStrike" baseline="0">
                          <a:solidFill>
                            <a:srgbClr val="000000"/>
                          </a:solidFill>
                          <a:effectLst/>
                          <a:latin typeface="Calibri" panose="020F0502020204030204" pitchFamily="34" charset="0"/>
                        </a:rPr>
                        <a:t>1%</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092418159"/>
                  </a:ext>
                </a:extLst>
              </a:tr>
              <a:tr h="365864">
                <a:tc>
                  <a:txBody>
                    <a:bodyPr/>
                    <a:lstStyle/>
                    <a:p>
                      <a:pPr algn="l" fontAlgn="b"/>
                      <a:r>
                        <a:rPr lang="en-US" sz="2000" b="0" i="0" u="none" strike="noStrike" baseline="0">
                          <a:solidFill>
                            <a:srgbClr val="000000"/>
                          </a:solidFill>
                          <a:effectLst/>
                          <a:latin typeface="Calibri" panose="020F0502020204030204" pitchFamily="34" charset="0"/>
                        </a:rPr>
                        <a:t>Demand</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US" sz="2000" b="0" i="0" u="none" strike="noStrike" baseline="0">
                          <a:solidFill>
                            <a:srgbClr val="000000"/>
                          </a:solidFill>
                          <a:effectLst/>
                          <a:latin typeface="Calibri" panose="020F0502020204030204" pitchFamily="34" charset="0"/>
                        </a:rPr>
                        <a:t>1.01</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US" sz="2000" b="0" i="0" u="none" strike="noStrike" baseline="0">
                          <a:solidFill>
                            <a:srgbClr val="000000"/>
                          </a:solidFill>
                          <a:effectLst/>
                          <a:latin typeface="Calibri" panose="020F0502020204030204" pitchFamily="34" charset="0"/>
                        </a:rPr>
                        <a:t>1</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938776546"/>
                  </a:ext>
                </a:extLst>
              </a:tr>
              <a:tr h="365864">
                <a:tc>
                  <a:txBody>
                    <a:bodyPr/>
                    <a:lstStyle/>
                    <a:p>
                      <a:pPr algn="l" fontAlgn="b"/>
                      <a:r>
                        <a:rPr lang="en-US" sz="2000" b="0" i="0" u="none" strike="noStrike" baseline="0">
                          <a:solidFill>
                            <a:srgbClr val="000000"/>
                          </a:solidFill>
                          <a:effectLst/>
                          <a:latin typeface="Calibri" panose="020F0502020204030204" pitchFamily="34" charset="0"/>
                        </a:rPr>
                        <a:t>Run_All</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636191681"/>
                  </a:ext>
                </a:extLst>
              </a:tr>
              <a:tr h="365864">
                <a:tc>
                  <a:txBody>
                    <a:bodyPr/>
                    <a:lstStyle/>
                    <a:p>
                      <a:pPr algn="l" fontAlgn="b"/>
                      <a:r>
                        <a:rPr lang="en-US" sz="2000" b="0" i="0" u="none" strike="noStrike" baseline="0">
                          <a:solidFill>
                            <a:srgbClr val="000000"/>
                          </a:solidFill>
                          <a:effectLst/>
                          <a:latin typeface="Calibri" panose="020F0502020204030204" pitchFamily="34" charset="0"/>
                        </a:rPr>
                        <a:t>SubDir</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US" sz="2000" b="0" i="0" u="none" strike="noStrike" baseline="0">
                          <a:solidFill>
                            <a:srgbClr val="000000"/>
                          </a:solidFill>
                          <a:effectLst/>
                          <a:latin typeface="Calibri" panose="020F0502020204030204" pitchFamily="34" charset="0"/>
                        </a:rPr>
                        <a:t>3%</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429327000"/>
                  </a:ext>
                </a:extLst>
              </a:tr>
              <a:tr h="367117">
                <a:tc>
                  <a:txBody>
                    <a:bodyPr/>
                    <a:lstStyle/>
                    <a:p>
                      <a:pPr algn="l" fontAlgn="b"/>
                      <a:r>
                        <a:rPr lang="en-US" sz="2000" b="0" i="0" u="none" strike="noStrike" baseline="0">
                          <a:solidFill>
                            <a:srgbClr val="000000"/>
                          </a:solidFill>
                          <a:effectLst/>
                          <a:latin typeface="Calibri" panose="020F0502020204030204" pitchFamily="34" charset="0"/>
                        </a:rPr>
                        <a:t>Demand</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US" sz="2000" b="0" i="0" u="none" strike="noStrike" baseline="0">
                          <a:solidFill>
                            <a:srgbClr val="000000"/>
                          </a:solidFill>
                          <a:effectLst/>
                          <a:latin typeface="Calibri" panose="020F0502020204030204" pitchFamily="34" charset="0"/>
                        </a:rPr>
                        <a:t>1.03</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US" sz="2000" b="0" i="0" u="none" strike="noStrike" baseline="0">
                          <a:solidFill>
                            <a:srgbClr val="000000"/>
                          </a:solidFill>
                          <a:effectLst/>
                          <a:latin typeface="Calibri" panose="020F0502020204030204" pitchFamily="34" charset="0"/>
                        </a:rPr>
                        <a:t>1</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963274561"/>
                  </a:ext>
                </a:extLst>
              </a:tr>
              <a:tr h="365864">
                <a:tc>
                  <a:txBody>
                    <a:bodyPr/>
                    <a:lstStyle/>
                    <a:p>
                      <a:pPr algn="l" fontAlgn="b"/>
                      <a:r>
                        <a:rPr lang="en-US" sz="2000" b="0" i="0" u="none" strike="noStrike" baseline="0">
                          <a:solidFill>
                            <a:srgbClr val="000000"/>
                          </a:solidFill>
                          <a:effectLst/>
                          <a:latin typeface="Calibri" panose="020F0502020204030204" pitchFamily="34" charset="0"/>
                        </a:rPr>
                        <a:t>Run_All</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655298898"/>
                  </a:ext>
                </a:extLst>
              </a:tr>
              <a:tr h="367117">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446791430"/>
                  </a:ext>
                </a:extLst>
              </a:tr>
              <a:tr h="367117">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2000" b="0" i="0" u="none" strike="noStrike" baseline="0" dirty="0">
                          <a:solidFill>
                            <a:srgbClr val="000000"/>
                          </a:solidFill>
                          <a:effectLst/>
                          <a:latin typeface="Calibri" panose="020F0502020204030204" pitchFamily="34" charset="0"/>
                        </a:rPr>
                        <a:t> </a:t>
                      </a:r>
                    </a:p>
                  </a:txBody>
                  <a:tcPr marL="2721" marR="2721" marT="2721"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918361228"/>
                  </a:ext>
                </a:extLst>
              </a:tr>
            </a:tbl>
          </a:graphicData>
        </a:graphic>
      </p:graphicFrame>
      <p:sp>
        <p:nvSpPr>
          <p:cNvPr id="6" name="Content Placeholder 3">
            <a:extLst>
              <a:ext uri="{FF2B5EF4-FFF2-40B4-BE49-F238E27FC236}">
                <a16:creationId xmlns:a16="http://schemas.microsoft.com/office/drawing/2014/main" id="{F50D97C4-81EB-D59D-E313-BC204C7C8ACB}"/>
              </a:ext>
            </a:extLst>
          </p:cNvPr>
          <p:cNvSpPr>
            <a:spLocks noGrp="1"/>
          </p:cNvSpPr>
          <p:nvPr>
            <p:ph sz="half" idx="2"/>
          </p:nvPr>
        </p:nvSpPr>
        <p:spPr>
          <a:xfrm>
            <a:off x="623947" y="2215156"/>
            <a:ext cx="6464808" cy="3597815"/>
          </a:xfrm>
        </p:spPr>
        <p:txBody>
          <a:bodyPr>
            <a:normAutofit fontScale="92500" lnSpcReduction="10000"/>
          </a:bodyPr>
          <a:lstStyle/>
          <a:p>
            <a:pPr>
              <a:spcAft>
                <a:spcPts val="1200"/>
              </a:spcAft>
            </a:pPr>
            <a:r>
              <a:rPr lang="en-US" sz="2000" dirty="0">
                <a:latin typeface="Gill Sans MT" panose="020B0502020104020203" pitchFamily="34" charset="0"/>
              </a:rPr>
              <a:t>On the right, is a typical program to generate a library directory.  The program Lib_Gen.xlsm in subdirectory Macro is used.</a:t>
            </a:r>
          </a:p>
          <a:p>
            <a:pPr>
              <a:spcAft>
                <a:spcPts val="1200"/>
              </a:spcAft>
            </a:pPr>
            <a:r>
              <a:rPr lang="en-US" sz="2000" dirty="0">
                <a:latin typeface="Gill Sans MT" panose="020B0502020104020203" pitchFamily="34" charset="0"/>
              </a:rPr>
              <a:t>It runs 10 CO2 cases with 1% per year demand factor, then 10 more with 3% demand.  There are 5 cases with constant CO2, and 5 cases with increasing CO2</a:t>
            </a:r>
          </a:p>
          <a:p>
            <a:pPr>
              <a:spcAft>
                <a:spcPts val="1200"/>
              </a:spcAft>
            </a:pPr>
            <a:r>
              <a:rPr lang="en-US" sz="2000" dirty="0">
                <a:latin typeface="Gill Sans MT" panose="020B0502020104020203" pitchFamily="34" charset="0"/>
              </a:rPr>
              <a:t>Region = US says run all 13 cases.  CAL, MIDA, etc. will run only one region</a:t>
            </a:r>
          </a:p>
          <a:p>
            <a:pPr>
              <a:spcAft>
                <a:spcPts val="1200"/>
              </a:spcAft>
            </a:pPr>
            <a:r>
              <a:rPr lang="en-US" sz="2000" dirty="0">
                <a:latin typeface="Gill Sans MT" panose="020B0502020104020203" pitchFamily="34" charset="0"/>
              </a:rPr>
              <a:t>I expect that I am the only one to actually run this.  Send me an email if you want me to run some cases.  If you want to exceed my expectations and try running it, let me know.</a:t>
            </a:r>
          </a:p>
          <a:p>
            <a:pPr marL="0" indent="0">
              <a:spcAft>
                <a:spcPts val="1200"/>
              </a:spcAft>
              <a:buNone/>
            </a:pPr>
            <a:endParaRPr lang="en-US" sz="2000" dirty="0">
              <a:latin typeface="Gill Sans MT" panose="020B0502020104020203" pitchFamily="34" charset="0"/>
            </a:endParaRPr>
          </a:p>
          <a:p>
            <a:pPr>
              <a:spcAft>
                <a:spcPts val="1200"/>
              </a:spcAft>
            </a:pPr>
            <a:endParaRPr lang="en-US" sz="2000" dirty="0">
              <a:latin typeface="Gill Sans MT" panose="020B0502020104020203" pitchFamily="34" charset="0"/>
            </a:endParaRPr>
          </a:p>
          <a:p>
            <a:pPr>
              <a:spcAft>
                <a:spcPts val="1200"/>
              </a:spcAft>
            </a:pPr>
            <a:endParaRPr lang="en-US" sz="2000" dirty="0">
              <a:latin typeface="Gill Sans MT" panose="020B0502020104020203" pitchFamily="34" charset="0"/>
            </a:endParaRPr>
          </a:p>
          <a:p>
            <a:pPr>
              <a:spcAft>
                <a:spcPts val="1200"/>
              </a:spcAft>
            </a:pPr>
            <a:endParaRPr lang="en-US" sz="2000" dirty="0">
              <a:latin typeface="Gill Sans MT" panose="020B0502020104020203" pitchFamily="34" charset="0"/>
            </a:endParaRPr>
          </a:p>
        </p:txBody>
      </p:sp>
    </p:spTree>
    <p:extLst>
      <p:ext uri="{BB962C8B-B14F-4D97-AF65-F5344CB8AC3E}">
        <p14:creationId xmlns:p14="http://schemas.microsoft.com/office/powerpoint/2010/main" val="2992483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DC31-1488-8091-935A-1B03A14A5CD8}"/>
              </a:ext>
            </a:extLst>
          </p:cNvPr>
          <p:cNvSpPr>
            <a:spLocks noGrp="1"/>
          </p:cNvSpPr>
          <p:nvPr>
            <p:ph type="title"/>
          </p:nvPr>
        </p:nvSpPr>
        <p:spPr>
          <a:xfrm>
            <a:off x="576072" y="317861"/>
            <a:ext cx="10515600" cy="676656"/>
          </a:xfrm>
        </p:spPr>
        <p:txBody>
          <a:bodyPr/>
          <a:lstStyle/>
          <a:p>
            <a:r>
              <a:rPr lang="en-US" dirty="0"/>
              <a:t>Comparison:</a:t>
            </a:r>
          </a:p>
        </p:txBody>
      </p:sp>
      <p:sp>
        <p:nvSpPr>
          <p:cNvPr id="8" name="Date Placeholder 7">
            <a:extLst>
              <a:ext uri="{FF2B5EF4-FFF2-40B4-BE49-F238E27FC236}">
                <a16:creationId xmlns:a16="http://schemas.microsoft.com/office/drawing/2014/main" id="{3B8B492D-0778-C859-9200-08161ABEBFE5}"/>
              </a:ext>
            </a:extLst>
          </p:cNvPr>
          <p:cNvSpPr>
            <a:spLocks noGrp="1"/>
          </p:cNvSpPr>
          <p:nvPr>
            <p:ph type="dt" sz="half" idx="10"/>
          </p:nvPr>
        </p:nvSpPr>
        <p:spPr>
          <a:xfrm>
            <a:off x="365759" y="6464808"/>
            <a:ext cx="1151857" cy="310896"/>
          </a:xfrm>
        </p:spPr>
        <p:txBody>
          <a:bodyPr/>
          <a:lstStyle/>
          <a:p>
            <a:r>
              <a:rPr lang="en-US" dirty="0"/>
              <a:t>2024-=07-06</a:t>
            </a:r>
          </a:p>
        </p:txBody>
      </p:sp>
      <p:sp>
        <p:nvSpPr>
          <p:cNvPr id="9" name="Footer Placeholder 8">
            <a:extLst>
              <a:ext uri="{FF2B5EF4-FFF2-40B4-BE49-F238E27FC236}">
                <a16:creationId xmlns:a16="http://schemas.microsoft.com/office/drawing/2014/main" id="{B1185DEE-1419-7DB6-949B-929195894BC8}"/>
              </a:ext>
            </a:extLst>
          </p:cNvPr>
          <p:cNvSpPr>
            <a:spLocks noGrp="1"/>
          </p:cNvSpPr>
          <p:nvPr>
            <p:ph type="ftr" sz="quarter" idx="11"/>
          </p:nvPr>
        </p:nvSpPr>
        <p:spPr/>
        <p:txBody>
          <a:bodyPr/>
          <a:lstStyle/>
          <a:p>
            <a:r>
              <a:rPr lang="en-US" dirty="0"/>
              <a:t>Climate Change Model</a:t>
            </a:r>
          </a:p>
        </p:txBody>
      </p:sp>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a:lstStyle/>
          <a:p>
            <a:fld id="{58FB4751-880F-D840-AAA9-3A15815CC996}" type="slidenum">
              <a:rPr lang="en-US" smtClean="0"/>
              <a:pPr/>
              <a:t>12</a:t>
            </a:fld>
            <a:endParaRPr lang="en-US" dirty="0"/>
          </a:p>
        </p:txBody>
      </p:sp>
      <p:sp>
        <p:nvSpPr>
          <p:cNvPr id="17" name="Content Placeholder 3">
            <a:extLst>
              <a:ext uri="{FF2B5EF4-FFF2-40B4-BE49-F238E27FC236}">
                <a16:creationId xmlns:a16="http://schemas.microsoft.com/office/drawing/2014/main" id="{FEA13789-F38F-90E0-F7CC-E72CD54D1987}"/>
              </a:ext>
            </a:extLst>
          </p:cNvPr>
          <p:cNvSpPr>
            <a:spLocks noGrp="1"/>
          </p:cNvSpPr>
          <p:nvPr>
            <p:ph sz="half" idx="2"/>
          </p:nvPr>
        </p:nvSpPr>
        <p:spPr>
          <a:xfrm>
            <a:off x="576072" y="1609794"/>
            <a:ext cx="6464808" cy="3046512"/>
          </a:xfrm>
        </p:spPr>
        <p:txBody>
          <a:bodyPr>
            <a:normAutofit/>
          </a:bodyPr>
          <a:lstStyle/>
          <a:p>
            <a:pPr>
              <a:spcAft>
                <a:spcPts val="1200"/>
              </a:spcAft>
            </a:pPr>
            <a:r>
              <a:rPr lang="en-US" sz="2400" dirty="0">
                <a:latin typeface="Gill Sans MT" panose="020B0502020104020203" pitchFamily="34" charset="0"/>
              </a:rPr>
              <a:t>Running macro/lib_compare.xlsm allows cases in the library to be compared</a:t>
            </a:r>
          </a:p>
          <a:p>
            <a:pPr>
              <a:spcAft>
                <a:spcPts val="1200"/>
              </a:spcAft>
            </a:pPr>
            <a:r>
              <a:rPr lang="en-US" sz="2400" dirty="0">
                <a:latin typeface="Gill Sans MT" panose="020B0502020104020203" pitchFamily="34" charset="0"/>
              </a:rPr>
              <a:t>Plan is to build a library</a:t>
            </a:r>
          </a:p>
          <a:p>
            <a:pPr>
              <a:spcAft>
                <a:spcPts val="1200"/>
              </a:spcAft>
            </a:pPr>
            <a:r>
              <a:rPr lang="en-US" sz="2400" dirty="0">
                <a:latin typeface="Gill Sans MT" panose="020B0502020104020203" pitchFamily="34" charset="0"/>
              </a:rPr>
              <a:t>Working on easy sharing of this one.  Someone familiar with Excel should be able to run it.</a:t>
            </a:r>
          </a:p>
          <a:p>
            <a:pPr>
              <a:spcAft>
                <a:spcPts val="1200"/>
              </a:spcAft>
            </a:pPr>
            <a:r>
              <a:rPr lang="en-US" sz="2400" dirty="0">
                <a:latin typeface="Gill Sans MT" panose="020B0502020104020203" pitchFamily="34" charset="0"/>
              </a:rPr>
              <a:t>Let’s try it out</a:t>
            </a:r>
            <a:r>
              <a:rPr lang="en-US" sz="2400">
                <a:latin typeface="Gill Sans MT" panose="020B0502020104020203" pitchFamily="34" charset="0"/>
              </a:rPr>
              <a:t>! </a:t>
            </a:r>
            <a:endParaRPr lang="en-US" sz="2000" dirty="0">
              <a:latin typeface="Gill Sans MT" panose="020B0502020104020203" pitchFamily="34" charset="0"/>
            </a:endParaRPr>
          </a:p>
        </p:txBody>
      </p:sp>
      <p:sp>
        <p:nvSpPr>
          <p:cNvPr id="6" name="Text Placeholder 2">
            <a:extLst>
              <a:ext uri="{FF2B5EF4-FFF2-40B4-BE49-F238E27FC236}">
                <a16:creationId xmlns:a16="http://schemas.microsoft.com/office/drawing/2014/main" id="{D4BDA6A6-593D-A404-CC60-CABB2876E541}"/>
              </a:ext>
            </a:extLst>
          </p:cNvPr>
          <p:cNvSpPr txBox="1">
            <a:spLocks/>
          </p:cNvSpPr>
          <p:nvPr/>
        </p:nvSpPr>
        <p:spPr>
          <a:xfrm>
            <a:off x="466919" y="4784242"/>
            <a:ext cx="6464808" cy="47291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000" b="0" kern="1200" cap="all" baseline="0">
                <a:solidFill>
                  <a:schemeClr val="accent1"/>
                </a:solidFill>
                <a:latin typeface="Gill Sans Nova" panose="020B060202010402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800" dirty="0"/>
              <a:t>Deep Dive</a:t>
            </a:r>
          </a:p>
        </p:txBody>
      </p:sp>
      <p:sp>
        <p:nvSpPr>
          <p:cNvPr id="7" name="Content Placeholder 3">
            <a:extLst>
              <a:ext uri="{FF2B5EF4-FFF2-40B4-BE49-F238E27FC236}">
                <a16:creationId xmlns:a16="http://schemas.microsoft.com/office/drawing/2014/main" id="{224D40C7-C740-C2B7-2A2E-E0C383F36E07}"/>
              </a:ext>
            </a:extLst>
          </p:cNvPr>
          <p:cNvSpPr txBox="1">
            <a:spLocks/>
          </p:cNvSpPr>
          <p:nvPr/>
        </p:nvSpPr>
        <p:spPr>
          <a:xfrm>
            <a:off x="687412" y="5248206"/>
            <a:ext cx="6464808" cy="562148"/>
          </a:xfrm>
          <a:prstGeom prst="rect">
            <a:avLst/>
          </a:prstGeom>
        </p:spPr>
        <p:txBody>
          <a:bodyPr vert="horz" lIns="91440" tIns="45720" rIns="91440" bIns="45720" rtlCol="0">
            <a:normAutofit fontScale="92500" lnSpcReduction="10000"/>
          </a:bodyPr>
          <a:lstStyle>
            <a:lvl1pPr marL="283464" indent="-283464" algn="l" defTabSz="914400" rtl="0" eaLnBrk="1" latinLnBrk="0" hangingPunct="1">
              <a:lnSpc>
                <a:spcPct val="100000"/>
              </a:lnSpc>
              <a:spcBef>
                <a:spcPts val="0"/>
              </a:spcBef>
              <a:buFont typeface="Courier New" panose="02070309020205020404" pitchFamily="49" charset="0"/>
              <a:buChar char="o"/>
              <a:defRPr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pPr>
            <a:r>
              <a:rPr lang="en-US" sz="2400" dirty="0">
                <a:latin typeface="Gill Sans MT" panose="020B0502020104020203" pitchFamily="34" charset="0"/>
              </a:rPr>
              <a:t>Everything is in github.com/</a:t>
            </a:r>
            <a:r>
              <a:rPr lang="en-US" sz="2400" dirty="0" err="1">
                <a:latin typeface="Gill Sans MT" panose="020B0502020104020203" pitchFamily="34" charset="0"/>
              </a:rPr>
              <a:t>cliffgold</a:t>
            </a:r>
            <a:r>
              <a:rPr lang="en-US" sz="2400" dirty="0">
                <a:latin typeface="Gill Sans MT" panose="020B0502020104020203" pitchFamily="34" charset="0"/>
              </a:rPr>
              <a:t>/optimize</a:t>
            </a:r>
          </a:p>
          <a:p>
            <a:pPr>
              <a:spcAft>
                <a:spcPts val="1200"/>
              </a:spcAft>
            </a:pPr>
            <a:endParaRPr lang="en-US" sz="2000" dirty="0">
              <a:latin typeface="Gill Sans MT" panose="020B0502020104020203" pitchFamily="34" charset="0"/>
            </a:endParaRPr>
          </a:p>
          <a:p>
            <a:pPr>
              <a:spcAft>
                <a:spcPts val="1200"/>
              </a:spcAft>
            </a:pPr>
            <a:endParaRPr lang="en-US" sz="2000" dirty="0"/>
          </a:p>
          <a:p>
            <a:pPr>
              <a:spcAft>
                <a:spcPts val="1200"/>
              </a:spcAft>
            </a:pPr>
            <a:endParaRPr lang="en-US" sz="2000" dirty="0"/>
          </a:p>
        </p:txBody>
      </p:sp>
    </p:spTree>
    <p:extLst>
      <p:ext uri="{BB962C8B-B14F-4D97-AF65-F5344CB8AC3E}">
        <p14:creationId xmlns:p14="http://schemas.microsoft.com/office/powerpoint/2010/main" val="2447908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a:xfrm>
            <a:off x="1145792" y="493104"/>
            <a:ext cx="9144000" cy="857919"/>
          </a:xfrm>
        </p:spPr>
        <p:txBody>
          <a:bodyPr/>
          <a:lstStyle/>
          <a:p>
            <a:r>
              <a:rPr lang="en-US" dirty="0"/>
              <a:t>Special Thanks To</a:t>
            </a:r>
          </a:p>
        </p:txBody>
      </p:sp>
      <p:sp>
        <p:nvSpPr>
          <p:cNvPr id="3" name="Content Placeholder 3">
            <a:extLst>
              <a:ext uri="{FF2B5EF4-FFF2-40B4-BE49-F238E27FC236}">
                <a16:creationId xmlns:a16="http://schemas.microsoft.com/office/drawing/2014/main" id="{EF28CD9A-3688-3055-DB90-3919C3E54BDD}"/>
              </a:ext>
            </a:extLst>
          </p:cNvPr>
          <p:cNvSpPr txBox="1">
            <a:spLocks/>
          </p:cNvSpPr>
          <p:nvPr/>
        </p:nvSpPr>
        <p:spPr>
          <a:xfrm>
            <a:off x="3108625" y="1750774"/>
            <a:ext cx="6464808" cy="4176069"/>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2200" dirty="0">
                <a:latin typeface="Gill Sans MT" panose="020B0502020104020203" pitchFamily="34" charset="0"/>
              </a:rPr>
              <a:t>Aarav Garg for getting it to run on Mac</a:t>
            </a:r>
          </a:p>
          <a:p>
            <a:pPr>
              <a:spcAft>
                <a:spcPts val="600"/>
              </a:spcAft>
            </a:pPr>
            <a:r>
              <a:rPr lang="en-US" sz="2200" dirty="0">
                <a:latin typeface="Gill Sans MT" panose="020B0502020104020203" pitchFamily="34" charset="0"/>
              </a:rPr>
              <a:t>Joseph Sauer for Excel suggestions</a:t>
            </a:r>
          </a:p>
          <a:p>
            <a:pPr>
              <a:spcAft>
                <a:spcPts val="600"/>
              </a:spcAft>
            </a:pPr>
            <a:r>
              <a:rPr lang="en-US" sz="2200" dirty="0">
                <a:latin typeface="Gill Sans MT" panose="020B0502020104020203" pitchFamily="34" charset="0"/>
              </a:rPr>
              <a:t>Lucas for working with EIA to get storage numbers right.</a:t>
            </a:r>
          </a:p>
          <a:p>
            <a:pPr>
              <a:spcAft>
                <a:spcPts val="600"/>
              </a:spcAft>
            </a:pPr>
            <a:r>
              <a:rPr lang="en-US" sz="2200" dirty="0">
                <a:latin typeface="Gill Sans MT" panose="020B0502020104020203" pitchFamily="34" charset="0"/>
              </a:rPr>
              <a:t>Rory Edelson for setting up the EIA download program, my first real Python experience.</a:t>
            </a:r>
          </a:p>
          <a:p>
            <a:pPr>
              <a:spcAft>
                <a:spcPts val="600"/>
              </a:spcAft>
            </a:pPr>
            <a:r>
              <a:rPr lang="en-US" sz="2200" dirty="0">
                <a:latin typeface="Gill Sans MT" panose="020B0502020104020203" pitchFamily="34" charset="0"/>
              </a:rPr>
              <a:t>The EIA</a:t>
            </a:r>
          </a:p>
          <a:p>
            <a:pPr>
              <a:spcAft>
                <a:spcPts val="600"/>
              </a:spcAft>
            </a:pPr>
            <a:r>
              <a:rPr lang="en-US" sz="2200" dirty="0">
                <a:latin typeface="Gill Sans MT" panose="020B0502020104020203" pitchFamily="34" charset="0"/>
              </a:rPr>
              <a:t>Eric Meyer for inspiration</a:t>
            </a:r>
          </a:p>
          <a:p>
            <a:pPr>
              <a:spcAft>
                <a:spcPts val="600"/>
              </a:spcAft>
            </a:pPr>
            <a:r>
              <a:rPr lang="en-US" sz="2000" dirty="0">
                <a:latin typeface="Gill Sans MT" panose="020B0502020104020203" pitchFamily="34" charset="0"/>
              </a:rPr>
              <a:t>All the others who helped with discussion, advice, and vision</a:t>
            </a:r>
          </a:p>
        </p:txBody>
      </p:sp>
    </p:spTree>
    <p:extLst>
      <p:ext uri="{BB962C8B-B14F-4D97-AF65-F5344CB8AC3E}">
        <p14:creationId xmlns:p14="http://schemas.microsoft.com/office/powerpoint/2010/main" val="2577936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p:txBody>
          <a:bodyPr/>
          <a:lstStyle/>
          <a:p>
            <a:r>
              <a:rPr lang="en-US" dirty="0"/>
              <a:t>Thank You </a:t>
            </a:r>
          </a:p>
        </p:txBody>
      </p:sp>
    </p:spTree>
    <p:extLst>
      <p:ext uri="{BB962C8B-B14F-4D97-AF65-F5344CB8AC3E}">
        <p14:creationId xmlns:p14="http://schemas.microsoft.com/office/powerpoint/2010/main" val="2118550342"/>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F6C2ABF3-C322-42BE-B48A-63C78EC4C218}" vid="{F577DF72-62B0-42B0-B34E-786789A797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13FD1EE-2EF1-42E3-9260-53F7A9198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07964E6-3618-4106-9F0D-0B5B9150681B}">
  <ds:schemaRefs>
    <ds:schemaRef ds:uri="http://schemas.microsoft.com/sharepoint/v3/contenttype/forms"/>
  </ds:schemaRefs>
</ds:datastoreItem>
</file>

<file path=customXml/itemProps3.xml><?xml version="1.0" encoding="utf-8"?>
<ds:datastoreItem xmlns:ds="http://schemas.openxmlformats.org/officeDocument/2006/customXml" ds:itemID="{D9A499FA-9FE2-4A54-8493-B62A0ECF167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{DF477550-F390-4F21-8878-0301B9568CE8}tf11964407_win32</Template>
  <TotalTime>1575</TotalTime>
  <Words>1003</Words>
  <Application>Microsoft Office PowerPoint</Application>
  <PresentationFormat>Widescreen</PresentationFormat>
  <Paragraphs>322</Paragraphs>
  <Slides>14</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Aptos Narrow</vt:lpstr>
      <vt:lpstr>Aptos SemiBold</vt:lpstr>
      <vt:lpstr>Arial</vt:lpstr>
      <vt:lpstr>Calibri</vt:lpstr>
      <vt:lpstr>Courier New</vt:lpstr>
      <vt:lpstr>Gill Sans MT</vt:lpstr>
      <vt:lpstr>Gill Sans Nova</vt:lpstr>
      <vt:lpstr>Gill Sans Nova Light</vt:lpstr>
      <vt:lpstr>Sagona Book</vt:lpstr>
      <vt:lpstr>Custom</vt:lpstr>
      <vt:lpstr> Climate Change Model  Step-by-Step</vt:lpstr>
      <vt:lpstr>Agenda</vt:lpstr>
      <vt:lpstr>Introduction</vt:lpstr>
      <vt:lpstr>The Data</vt:lpstr>
      <vt:lpstr>The Data – California, Starting 1/1/2020</vt:lpstr>
      <vt:lpstr>The Knobs</vt:lpstr>
      <vt:lpstr>Model Flow 1</vt:lpstr>
      <vt:lpstr>Model Flow 2</vt:lpstr>
      <vt:lpstr>Detailed Block Diagram</vt:lpstr>
      <vt:lpstr>Building the Model:  Library</vt:lpstr>
      <vt:lpstr>Building the Model:   Excel</vt:lpstr>
      <vt:lpstr>Comparison:</vt:lpstr>
      <vt:lpstr>Special Thanks To</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Computing Cancer Risk</dc:title>
  <dc:creator>Cliff Gold</dc:creator>
  <cp:lastModifiedBy>Cliff Gold</cp:lastModifiedBy>
  <cp:revision>12</cp:revision>
  <dcterms:created xsi:type="dcterms:W3CDTF">2023-08-28T20:26:57Z</dcterms:created>
  <dcterms:modified xsi:type="dcterms:W3CDTF">2026-07-09T18:53:30Z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